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5" r:id="rId20"/>
    <p:sldId id="276" r:id="rId21"/>
    <p:sldId id="277" r:id="rId22"/>
    <p:sldId id="278" r:id="rId23"/>
    <p:sldId id="279" r:id="rId24"/>
    <p:sldId id="274" r:id="rId25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039">
          <p15:clr>
            <a:srgbClr val="A4A3A4"/>
          </p15:clr>
        </p15:guide>
        <p15:guide id="2" pos="3485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7" roundtripDataSignature="AMtx7mgegO3OfnUNPhh+E85DmcvDystYkw==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Moreno Mazzocchetti" initials="" lastIdx="1" clrIdx="0"/>
  <p:cmAuthor id="1" name="Python Pescara" initials="" lastIdx="1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95" d="100"/>
          <a:sy n="95" d="100"/>
        </p:scale>
        <p:origin x="44" y="24"/>
      </p:cViewPr>
      <p:guideLst>
        <p:guide orient="horz" pos="1039"/>
        <p:guide pos="348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customschemas.google.com/relationships/presentationmetadata" Target="metadata"/><Relationship Id="rId30" Type="http://schemas.openxmlformats.org/officeDocument/2006/relationships/viewProps" Target="viewProps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5-11-25T13:29:44.917" idx="1">
    <p:pos x="6000" y="0"/>
    <p:text>Il formato delle slides dovrebbe essere orizzontale per essere correttamente proiettato</p:text>
    <p:extLst>
      <p:ext uri="{C676402C-5697-4E1C-873F-D02D1690AC5C}">
        <p15:threadingInfo xmlns:p15="http://schemas.microsoft.com/office/powerpoint/2012/main" timeZoneBias="0"/>
      </p:ext>
      <p:ext uri="http://customooxmlschemas.google.com/">
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commentPostId="AAABwuaQn2s"/>
      </p:ext>
    </p:extLst>
  </p:cm>
  <p:cm authorId="1" dt="2025-11-25T13:29:44.917" idx="1">
    <p:pos x="6000" y="0"/>
    <p:text>@francescospalluzzi@gmail.com in particolare co rapporto 16:9 come tu ha fatto già lo scorso anno come dimostra la foto :-)
https://photos.app.goo.gl/WQPMzAVWWuGmpCVK7</p:text>
    <p:extLst>
      <p:ext uri="{C676402C-5697-4E1C-873F-D02D1690AC5C}">
        <p15:threadingInfo xmlns:p15="http://schemas.microsoft.com/office/powerpoint/2012/main" timeZoneBias="0">
          <p15:parentCm authorId="0" idx="1"/>
        </p15:threadingInfo>
      </p:ext>
      <p:ext uri="http://customooxmlschemas.google.com/">
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commentPostId="AAABwuaQn2w"/>
      </p:ext>
    </p:extLs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260" y="1143000"/>
            <a:ext cx="54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260" y="1143000"/>
            <a:ext cx="54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260" y="1143000"/>
            <a:ext cx="54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260" y="1143000"/>
            <a:ext cx="54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260" y="1143000"/>
            <a:ext cx="54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260" y="1143000"/>
            <a:ext cx="54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260" y="1143000"/>
            <a:ext cx="54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260" y="1143000"/>
            <a:ext cx="54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260" y="1143000"/>
            <a:ext cx="54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260" y="1143000"/>
            <a:ext cx="54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1" name="Google Shape;161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260" y="1143000"/>
            <a:ext cx="54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260" y="1143000"/>
            <a:ext cx="54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260" y="1143000"/>
            <a:ext cx="54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8" name="Google Shape;178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" name="Google Shape;179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260" y="1143000"/>
            <a:ext cx="54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5" name="Google Shape;195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260" y="1143000"/>
            <a:ext cx="54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g3a9b731e4a8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260" y="1143000"/>
            <a:ext cx="54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3" name="Google Shape;203;g3a9b731e4a8_0_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g3a9b731e4a8_0_3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3a9b731e4a8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260" y="1143000"/>
            <a:ext cx="54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3a9b731e4a8_0_4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g3a9b731e4a8_0_4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3a9b731e4a8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260" y="1143000"/>
            <a:ext cx="54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1" name="Google Shape;221;g3a9b731e4a8_0_4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Google Shape;222;g3a9b731e4a8_0_4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3a9b731e4a8_0_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260" y="1143000"/>
            <a:ext cx="54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1" name="Google Shape;231;g3a9b731e4a8_0_5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2" name="Google Shape;232;g3a9b731e4a8_0_5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7"/>
          <p:cNvSpPr txBox="1">
            <a:spLocks noGrp="1"/>
          </p:cNvSpPr>
          <p:nvPr>
            <p:ph type="dt" idx="10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7"/>
          <p:cNvSpPr txBox="1">
            <a:spLocks noGrp="1"/>
          </p:cNvSpPr>
          <p:nvPr>
            <p:ph type="ftr" idx="11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7"/>
          <p:cNvSpPr txBox="1">
            <a:spLocks noGrp="1"/>
          </p:cNvSpPr>
          <p:nvPr>
            <p:ph type="sldNum" idx="12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8"/>
          <p:cNvSpPr txBox="1">
            <a:spLocks noGrp="1"/>
          </p:cNvSpPr>
          <p:nvPr>
            <p:ph type="ctrTitle"/>
          </p:nvPr>
        </p:nvSpPr>
        <p:spPr>
          <a:xfrm>
            <a:off x="829876" y="1024729"/>
            <a:ext cx="9405300" cy="7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8"/>
          <p:cNvSpPr txBox="1">
            <a:spLocks noGrp="1"/>
          </p:cNvSpPr>
          <p:nvPr>
            <p:ph type="subTitle" idx="1"/>
          </p:nvPr>
        </p:nvSpPr>
        <p:spPr>
          <a:xfrm>
            <a:off x="1659751" y="1869253"/>
            <a:ext cx="7745400" cy="8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2" name="Google Shape;22;p18"/>
          <p:cNvSpPr txBox="1">
            <a:spLocks noGrp="1"/>
          </p:cNvSpPr>
          <p:nvPr>
            <p:ph type="dt" idx="10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8"/>
          <p:cNvSpPr txBox="1">
            <a:spLocks noGrp="1"/>
          </p:cNvSpPr>
          <p:nvPr>
            <p:ph type="ftr" idx="11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8"/>
          <p:cNvSpPr txBox="1">
            <a:spLocks noGrp="1"/>
          </p:cNvSpPr>
          <p:nvPr>
            <p:ph type="sldNum" idx="12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9"/>
          <p:cNvSpPr txBox="1">
            <a:spLocks noGrp="1"/>
          </p:cNvSpPr>
          <p:nvPr>
            <p:ph type="title"/>
          </p:nvPr>
        </p:nvSpPr>
        <p:spPr>
          <a:xfrm>
            <a:off x="553250" y="132100"/>
            <a:ext cx="9958500" cy="54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9"/>
          <p:cNvSpPr txBox="1">
            <a:spLocks noGrp="1"/>
          </p:cNvSpPr>
          <p:nvPr>
            <p:ph type="body" idx="1"/>
          </p:nvPr>
        </p:nvSpPr>
        <p:spPr>
          <a:xfrm>
            <a:off x="553250" y="769692"/>
            <a:ext cx="9958500" cy="21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" name="Google Shape;28;p19"/>
          <p:cNvSpPr txBox="1">
            <a:spLocks noGrp="1"/>
          </p:cNvSpPr>
          <p:nvPr>
            <p:ph type="dt" idx="10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9"/>
          <p:cNvSpPr txBox="1">
            <a:spLocks noGrp="1"/>
          </p:cNvSpPr>
          <p:nvPr>
            <p:ph type="ftr" idx="11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9"/>
          <p:cNvSpPr txBox="1">
            <a:spLocks noGrp="1"/>
          </p:cNvSpPr>
          <p:nvPr>
            <p:ph type="sldNum" idx="12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20"/>
          <p:cNvSpPr txBox="1">
            <a:spLocks noGrp="1"/>
          </p:cNvSpPr>
          <p:nvPr>
            <p:ph type="title"/>
          </p:nvPr>
        </p:nvSpPr>
        <p:spPr>
          <a:xfrm>
            <a:off x="874059" y="2119708"/>
            <a:ext cx="9405300" cy="6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20"/>
          <p:cNvSpPr txBox="1">
            <a:spLocks noGrp="1"/>
          </p:cNvSpPr>
          <p:nvPr>
            <p:ph type="body" idx="1"/>
          </p:nvPr>
        </p:nvSpPr>
        <p:spPr>
          <a:xfrm>
            <a:off x="874059" y="1398122"/>
            <a:ext cx="9405300" cy="72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4" name="Google Shape;34;p20"/>
          <p:cNvSpPr txBox="1">
            <a:spLocks noGrp="1"/>
          </p:cNvSpPr>
          <p:nvPr>
            <p:ph type="dt" idx="10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0"/>
          <p:cNvSpPr txBox="1">
            <a:spLocks noGrp="1"/>
          </p:cNvSpPr>
          <p:nvPr>
            <p:ph type="ftr" idx="11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20"/>
          <p:cNvSpPr txBox="1">
            <a:spLocks noGrp="1"/>
          </p:cNvSpPr>
          <p:nvPr>
            <p:ph type="sldNum" idx="12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21"/>
          <p:cNvSpPr txBox="1">
            <a:spLocks noGrp="1"/>
          </p:cNvSpPr>
          <p:nvPr>
            <p:ph type="title"/>
          </p:nvPr>
        </p:nvSpPr>
        <p:spPr>
          <a:xfrm>
            <a:off x="553250" y="132100"/>
            <a:ext cx="9958500" cy="54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21"/>
          <p:cNvSpPr txBox="1">
            <a:spLocks noGrp="1"/>
          </p:cNvSpPr>
          <p:nvPr>
            <p:ph type="body" idx="1"/>
          </p:nvPr>
        </p:nvSpPr>
        <p:spPr>
          <a:xfrm>
            <a:off x="553250" y="769692"/>
            <a:ext cx="4887000" cy="21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40" name="Google Shape;40;p21"/>
          <p:cNvSpPr txBox="1">
            <a:spLocks noGrp="1"/>
          </p:cNvSpPr>
          <p:nvPr>
            <p:ph type="body" idx="2"/>
          </p:nvPr>
        </p:nvSpPr>
        <p:spPr>
          <a:xfrm>
            <a:off x="5624713" y="769692"/>
            <a:ext cx="4887000" cy="21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41" name="Google Shape;41;p21"/>
          <p:cNvSpPr txBox="1">
            <a:spLocks noGrp="1"/>
          </p:cNvSpPr>
          <p:nvPr>
            <p:ph type="dt" idx="10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21"/>
          <p:cNvSpPr txBox="1">
            <a:spLocks noGrp="1"/>
          </p:cNvSpPr>
          <p:nvPr>
            <p:ph type="ftr" idx="11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1"/>
          <p:cNvSpPr txBox="1">
            <a:spLocks noGrp="1"/>
          </p:cNvSpPr>
          <p:nvPr>
            <p:ph type="sldNum" idx="12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2"/>
          <p:cNvSpPr txBox="1">
            <a:spLocks noGrp="1"/>
          </p:cNvSpPr>
          <p:nvPr>
            <p:ph type="title"/>
          </p:nvPr>
        </p:nvSpPr>
        <p:spPr>
          <a:xfrm>
            <a:off x="553250" y="132100"/>
            <a:ext cx="9958500" cy="54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22"/>
          <p:cNvSpPr txBox="1">
            <a:spLocks noGrp="1"/>
          </p:cNvSpPr>
          <p:nvPr>
            <p:ph type="body" idx="1"/>
          </p:nvPr>
        </p:nvSpPr>
        <p:spPr>
          <a:xfrm>
            <a:off x="553250" y="738386"/>
            <a:ext cx="4889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22"/>
          <p:cNvSpPr txBox="1">
            <a:spLocks noGrp="1"/>
          </p:cNvSpPr>
          <p:nvPr>
            <p:ph type="body" idx="2"/>
          </p:nvPr>
        </p:nvSpPr>
        <p:spPr>
          <a:xfrm>
            <a:off x="553250" y="1046110"/>
            <a:ext cx="4889100" cy="190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8" name="Google Shape;48;p22"/>
          <p:cNvSpPr txBox="1">
            <a:spLocks noGrp="1"/>
          </p:cNvSpPr>
          <p:nvPr>
            <p:ph type="body" idx="3"/>
          </p:nvPr>
        </p:nvSpPr>
        <p:spPr>
          <a:xfrm>
            <a:off x="5620871" y="738386"/>
            <a:ext cx="48909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22"/>
          <p:cNvSpPr txBox="1">
            <a:spLocks noGrp="1"/>
          </p:cNvSpPr>
          <p:nvPr>
            <p:ph type="body" idx="4"/>
          </p:nvPr>
        </p:nvSpPr>
        <p:spPr>
          <a:xfrm>
            <a:off x="5620871" y="1046110"/>
            <a:ext cx="4890900" cy="190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50" name="Google Shape;50;p22"/>
          <p:cNvSpPr txBox="1">
            <a:spLocks noGrp="1"/>
          </p:cNvSpPr>
          <p:nvPr>
            <p:ph type="dt" idx="10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2"/>
          <p:cNvSpPr txBox="1">
            <a:spLocks noGrp="1"/>
          </p:cNvSpPr>
          <p:nvPr>
            <p:ph type="ftr" idx="11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2"/>
          <p:cNvSpPr txBox="1">
            <a:spLocks noGrp="1"/>
          </p:cNvSpPr>
          <p:nvPr>
            <p:ph type="sldNum" idx="12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3"/>
          <p:cNvSpPr txBox="1">
            <a:spLocks noGrp="1"/>
          </p:cNvSpPr>
          <p:nvPr>
            <p:ph type="title"/>
          </p:nvPr>
        </p:nvSpPr>
        <p:spPr>
          <a:xfrm>
            <a:off x="553250" y="132100"/>
            <a:ext cx="9958500" cy="54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23"/>
          <p:cNvSpPr txBox="1">
            <a:spLocks noGrp="1"/>
          </p:cNvSpPr>
          <p:nvPr>
            <p:ph type="dt" idx="10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3"/>
          <p:cNvSpPr txBox="1">
            <a:spLocks noGrp="1"/>
          </p:cNvSpPr>
          <p:nvPr>
            <p:ph type="ftr" idx="11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3"/>
          <p:cNvSpPr txBox="1">
            <a:spLocks noGrp="1"/>
          </p:cNvSpPr>
          <p:nvPr>
            <p:ph type="sldNum" idx="12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4"/>
          <p:cNvSpPr txBox="1">
            <a:spLocks noGrp="1"/>
          </p:cNvSpPr>
          <p:nvPr>
            <p:ph type="title"/>
          </p:nvPr>
        </p:nvSpPr>
        <p:spPr>
          <a:xfrm>
            <a:off x="553250" y="131336"/>
            <a:ext cx="3640200" cy="55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4"/>
          <p:cNvSpPr txBox="1">
            <a:spLocks noGrp="1"/>
          </p:cNvSpPr>
          <p:nvPr>
            <p:ph type="body" idx="1"/>
          </p:nvPr>
        </p:nvSpPr>
        <p:spPr>
          <a:xfrm>
            <a:off x="4326111" y="131336"/>
            <a:ext cx="6185700" cy="281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24"/>
          <p:cNvSpPr txBox="1">
            <a:spLocks noGrp="1"/>
          </p:cNvSpPr>
          <p:nvPr>
            <p:ph type="body" idx="2"/>
          </p:nvPr>
        </p:nvSpPr>
        <p:spPr>
          <a:xfrm>
            <a:off x="553250" y="690280"/>
            <a:ext cx="3640200" cy="225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2" name="Google Shape;62;p24"/>
          <p:cNvSpPr txBox="1">
            <a:spLocks noGrp="1"/>
          </p:cNvSpPr>
          <p:nvPr>
            <p:ph type="dt" idx="10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4"/>
          <p:cNvSpPr txBox="1">
            <a:spLocks noGrp="1"/>
          </p:cNvSpPr>
          <p:nvPr>
            <p:ph type="ftr" idx="11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4"/>
          <p:cNvSpPr txBox="1">
            <a:spLocks noGrp="1"/>
          </p:cNvSpPr>
          <p:nvPr>
            <p:ph type="sldNum" idx="12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5"/>
          <p:cNvSpPr txBox="1">
            <a:spLocks noGrp="1"/>
          </p:cNvSpPr>
          <p:nvPr>
            <p:ph type="title"/>
          </p:nvPr>
        </p:nvSpPr>
        <p:spPr>
          <a:xfrm>
            <a:off x="2168819" y="2309077"/>
            <a:ext cx="6639000" cy="2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5"/>
          <p:cNvSpPr>
            <a:spLocks noGrp="1"/>
          </p:cNvSpPr>
          <p:nvPr>
            <p:ph type="pic" idx="2"/>
          </p:nvPr>
        </p:nvSpPr>
        <p:spPr>
          <a:xfrm>
            <a:off x="2168819" y="294743"/>
            <a:ext cx="6639000" cy="19791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5"/>
          <p:cNvSpPr txBox="1">
            <a:spLocks noGrp="1"/>
          </p:cNvSpPr>
          <p:nvPr>
            <p:ph type="body" idx="1"/>
          </p:nvPr>
        </p:nvSpPr>
        <p:spPr>
          <a:xfrm>
            <a:off x="2168819" y="2581677"/>
            <a:ext cx="6639000" cy="38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9" name="Google Shape;69;p25"/>
          <p:cNvSpPr txBox="1">
            <a:spLocks noGrp="1"/>
          </p:cNvSpPr>
          <p:nvPr>
            <p:ph type="dt" idx="10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5"/>
          <p:cNvSpPr txBox="1">
            <a:spLocks noGrp="1"/>
          </p:cNvSpPr>
          <p:nvPr>
            <p:ph type="ftr" idx="11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5"/>
          <p:cNvSpPr txBox="1">
            <a:spLocks noGrp="1"/>
          </p:cNvSpPr>
          <p:nvPr>
            <p:ph type="sldNum" idx="12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6"/>
          <p:cNvSpPr txBox="1">
            <a:spLocks noGrp="1"/>
          </p:cNvSpPr>
          <p:nvPr>
            <p:ph type="title"/>
          </p:nvPr>
        </p:nvSpPr>
        <p:spPr>
          <a:xfrm>
            <a:off x="553250" y="132100"/>
            <a:ext cx="9958500" cy="54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6"/>
          <p:cNvSpPr txBox="1">
            <a:spLocks noGrp="1"/>
          </p:cNvSpPr>
          <p:nvPr>
            <p:ph type="body" idx="1"/>
          </p:nvPr>
        </p:nvSpPr>
        <p:spPr>
          <a:xfrm rot="5400000">
            <a:off x="4443958" y="-3121008"/>
            <a:ext cx="2177100" cy="995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6"/>
          <p:cNvSpPr txBox="1">
            <a:spLocks noGrp="1"/>
          </p:cNvSpPr>
          <p:nvPr>
            <p:ph type="dt" idx="10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6"/>
          <p:cNvSpPr txBox="1">
            <a:spLocks noGrp="1"/>
          </p:cNvSpPr>
          <p:nvPr>
            <p:ph type="ftr" idx="11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6"/>
          <p:cNvSpPr txBox="1">
            <a:spLocks noGrp="1"/>
          </p:cNvSpPr>
          <p:nvPr>
            <p:ph type="sldNum" idx="12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7"/>
          <p:cNvSpPr txBox="1">
            <a:spLocks noGrp="1"/>
          </p:cNvSpPr>
          <p:nvPr>
            <p:ph type="title"/>
          </p:nvPr>
        </p:nvSpPr>
        <p:spPr>
          <a:xfrm rot="5400000">
            <a:off x="7859608" y="294550"/>
            <a:ext cx="2814600" cy="248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27"/>
          <p:cNvSpPr txBox="1">
            <a:spLocks noGrp="1"/>
          </p:cNvSpPr>
          <p:nvPr>
            <p:ph type="body" idx="1"/>
          </p:nvPr>
        </p:nvSpPr>
        <p:spPr>
          <a:xfrm rot="5400000">
            <a:off x="2788114" y="-2102900"/>
            <a:ext cx="2814600" cy="728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27"/>
          <p:cNvSpPr txBox="1">
            <a:spLocks noGrp="1"/>
          </p:cNvSpPr>
          <p:nvPr>
            <p:ph type="dt" idx="10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27"/>
          <p:cNvSpPr txBox="1">
            <a:spLocks noGrp="1"/>
          </p:cNvSpPr>
          <p:nvPr>
            <p:ph type="ftr" idx="11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7"/>
          <p:cNvSpPr txBox="1">
            <a:spLocks noGrp="1"/>
          </p:cNvSpPr>
          <p:nvPr>
            <p:ph type="sldNum" idx="12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‹N›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6"/>
          <p:cNvSpPr txBox="1">
            <a:spLocks noGrp="1"/>
          </p:cNvSpPr>
          <p:nvPr>
            <p:ph type="title"/>
          </p:nvPr>
        </p:nvSpPr>
        <p:spPr>
          <a:xfrm>
            <a:off x="553250" y="132100"/>
            <a:ext cx="9958500" cy="54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6"/>
          <p:cNvSpPr txBox="1">
            <a:spLocks noGrp="1"/>
          </p:cNvSpPr>
          <p:nvPr>
            <p:ph type="body" idx="1"/>
          </p:nvPr>
        </p:nvSpPr>
        <p:spPr>
          <a:xfrm>
            <a:off x="553250" y="769692"/>
            <a:ext cx="9958500" cy="21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6"/>
          <p:cNvSpPr txBox="1">
            <a:spLocks noGrp="1"/>
          </p:cNvSpPr>
          <p:nvPr>
            <p:ph type="dt" idx="10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6"/>
          <p:cNvSpPr txBox="1">
            <a:spLocks noGrp="1"/>
          </p:cNvSpPr>
          <p:nvPr>
            <p:ph type="ftr" idx="11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6"/>
          <p:cNvSpPr txBox="1">
            <a:spLocks noGrp="1"/>
          </p:cNvSpPr>
          <p:nvPr>
            <p:ph type="sldNum" idx="12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‹N›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comments" Target="../comments/commen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 txBox="1"/>
          <p:nvPr/>
        </p:nvSpPr>
        <p:spPr>
          <a:xfrm>
            <a:off x="1252497" y="772991"/>
            <a:ext cx="7192200" cy="38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787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</a:t>
            </a:r>
            <a:r>
              <a:rPr lang="it-IT" sz="3200" b="1" i="0" u="none" strike="noStrike" cap="none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Segreti sui moduli Python</a:t>
            </a:r>
            <a:endParaRPr sz="3200" b="1" i="0" u="none" strike="noStrike" cap="none">
              <a:solidFill>
                <a:srgbClr val="0F476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9" name="Google Shape;89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"/>
          <p:cNvSpPr txBox="1"/>
          <p:nvPr/>
        </p:nvSpPr>
        <p:spPr>
          <a:xfrm>
            <a:off x="1680890" y="277000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004" b="1" i="0" u="none" strike="noStrike" cap="none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551326" y="1256099"/>
            <a:ext cx="8147700" cy="36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730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Noto Sans Symbols"/>
              <a:buChar char="⮚"/>
            </a:pPr>
            <a:r>
              <a:rPr lang="it-IT" sz="2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Cos’è un modulo standalone in Python</a:t>
            </a:r>
            <a:endParaRPr sz="1200"/>
          </a:p>
          <a:p>
            <a:pPr marL="285750" marR="0" lvl="0" indent="-2730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Noto Sans Symbols"/>
              <a:buChar char="⮚"/>
            </a:pPr>
            <a:r>
              <a:rPr lang="it-IT" sz="2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Possibilità di creare più ambienti associati a più versioni di Python sulla workstation</a:t>
            </a:r>
            <a:endParaRPr sz="1200"/>
          </a:p>
          <a:p>
            <a:pPr marL="285750" marR="0" lvl="0" indent="-2730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Noto Sans Symbols"/>
              <a:buChar char="⮚"/>
            </a:pPr>
            <a:r>
              <a:rPr lang="it-IT" sz="2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 possibili utilizzi di python –m in diversi scenari:</a:t>
            </a:r>
            <a:endParaRPr sz="1200"/>
          </a:p>
          <a:p>
            <a:pPr marL="742950" marR="0" lvl="1" indent="-2730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Noto Sans Symbols"/>
              <a:buChar char="⮚"/>
            </a:pPr>
            <a:r>
              <a:rPr lang="it-IT" sz="2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Contesto web</a:t>
            </a:r>
            <a:endParaRPr sz="1200"/>
          </a:p>
          <a:p>
            <a:pPr marL="742950" marR="0" lvl="1" indent="-2730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Noto Sans Symbols"/>
              <a:buChar char="⮚"/>
            </a:pPr>
            <a:r>
              <a:rPr lang="it-IT" sz="2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Avviare il debug interattivo di uno script</a:t>
            </a:r>
            <a:endParaRPr sz="1200"/>
          </a:p>
          <a:p>
            <a:pPr marL="742950" marR="0" lvl="1" indent="-2730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Noto Sans Symbols"/>
              <a:buChar char="⮚"/>
            </a:pPr>
            <a:r>
              <a:rPr lang="it-IT" sz="2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Misurare il tempo di esecuzione di uno script</a:t>
            </a:r>
            <a:endParaRPr sz="1200"/>
          </a:p>
          <a:p>
            <a:pPr marL="742950" marR="0" lvl="1" indent="-2730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Noto Sans Symbols"/>
              <a:buChar char="⮚"/>
            </a:pPr>
            <a:r>
              <a:rPr lang="it-IT" sz="2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Discovery automatico degli unit test in python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742950" marR="0" lvl="1" indent="-2730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Noto Sans Symbols"/>
              <a:buChar char="⮚"/>
            </a:pPr>
            <a:r>
              <a:rPr lang="it-IT" sz="2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Mostrare nel terminale i percorsi attivi dei pacchetti</a:t>
            </a:r>
            <a:endParaRPr sz="12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/>
          <p:nvPr/>
        </p:nvSpPr>
        <p:spPr>
          <a:xfrm>
            <a:off x="238200" y="2345447"/>
            <a:ext cx="8991523" cy="2312184"/>
          </a:xfrm>
          <a:custGeom>
            <a:avLst/>
            <a:gdLst/>
            <a:ahLst/>
            <a:cxnLst/>
            <a:rect l="l" t="t" r="r" b="b"/>
            <a:pathLst>
              <a:path w="5619702" h="1758315" extrusionOk="0">
                <a:moveTo>
                  <a:pt x="0" y="0"/>
                </a:moveTo>
                <a:lnTo>
                  <a:pt x="5619702" y="0"/>
                </a:lnTo>
                <a:lnTo>
                  <a:pt x="5619702" y="1758315"/>
                </a:lnTo>
                <a:lnTo>
                  <a:pt x="0" y="175831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97" name="Google Shape;97;p2"/>
          <p:cNvSpPr txBox="1"/>
          <p:nvPr/>
        </p:nvSpPr>
        <p:spPr>
          <a:xfrm>
            <a:off x="551329" y="1651572"/>
            <a:ext cx="3216600" cy="43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58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4800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Profilo </a:t>
            </a:r>
            <a:endParaRPr/>
          </a:p>
        </p:txBody>
      </p:sp>
      <p:sp>
        <p:nvSpPr>
          <p:cNvPr id="98" name="Google Shape;98;p2"/>
          <p:cNvSpPr txBox="1"/>
          <p:nvPr/>
        </p:nvSpPr>
        <p:spPr>
          <a:xfrm>
            <a:off x="1799190" y="341028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004" b="1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99" name="Google Shape;99;p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Google Shape;104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51322" y="114848"/>
            <a:ext cx="1356125" cy="865450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3"/>
          <p:cNvSpPr txBox="1"/>
          <p:nvPr/>
        </p:nvSpPr>
        <p:spPr>
          <a:xfrm>
            <a:off x="1907440" y="3471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004" b="1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06" name="Google Shape;106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67850" y="1108098"/>
            <a:ext cx="7808312" cy="38584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"/>
          <p:cNvSpPr txBox="1"/>
          <p:nvPr/>
        </p:nvSpPr>
        <p:spPr>
          <a:xfrm>
            <a:off x="2094515" y="319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004" b="1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12" name="Google Shape;112;p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83548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819350" y="990325"/>
            <a:ext cx="6914774" cy="2797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114;p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735788" y="4107375"/>
            <a:ext cx="7081900" cy="728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"/>
          <p:cNvSpPr txBox="1"/>
          <p:nvPr/>
        </p:nvSpPr>
        <p:spPr>
          <a:xfrm>
            <a:off x="2266790" y="269703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004" b="1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20" name="Google Shape;120;p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p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05950" y="1027250"/>
            <a:ext cx="7382724" cy="2820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05950" y="4085925"/>
            <a:ext cx="7382726" cy="7299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6"/>
          <p:cNvSpPr txBox="1"/>
          <p:nvPr/>
        </p:nvSpPr>
        <p:spPr>
          <a:xfrm>
            <a:off x="2266790" y="269703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004" b="1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28" name="Google Shape;128;p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93825" y="1174898"/>
            <a:ext cx="8839204" cy="115669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" name="Google Shape;130;p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370600" y="2508623"/>
            <a:ext cx="7271611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902075" y="3100179"/>
            <a:ext cx="6208651" cy="2252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"/>
          <p:cNvSpPr txBox="1"/>
          <p:nvPr/>
        </p:nvSpPr>
        <p:spPr>
          <a:xfrm>
            <a:off x="2266790" y="269703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004" b="1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37" name="Google Shape;137;p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8" name="Google Shape;138;p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95200" y="924075"/>
            <a:ext cx="8081023" cy="174262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628975" y="2666703"/>
            <a:ext cx="4086669" cy="2171997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7"/>
          <p:cNvSpPr txBox="1"/>
          <p:nvPr/>
        </p:nvSpPr>
        <p:spPr>
          <a:xfrm>
            <a:off x="6006125" y="3269025"/>
            <a:ext cx="3470100" cy="54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Struttura progetto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"/>
          <p:cNvSpPr txBox="1"/>
          <p:nvPr/>
        </p:nvSpPr>
        <p:spPr>
          <a:xfrm>
            <a:off x="2266790" y="269703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004" b="1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46" name="Google Shape;146;p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6950" y="1027248"/>
            <a:ext cx="8839204" cy="677615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8"/>
          <p:cNvSpPr txBox="1"/>
          <p:nvPr/>
        </p:nvSpPr>
        <p:spPr>
          <a:xfrm>
            <a:off x="1516200" y="2061625"/>
            <a:ext cx="6800700" cy="166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 terminale si digita questo comando avviando il modulo http.server e collegandolo all’host 127.0.0.1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9" name="Google Shape;149;p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51325" y="3814800"/>
            <a:ext cx="8839204" cy="10704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"/>
          <p:cNvSpPr txBox="1"/>
          <p:nvPr/>
        </p:nvSpPr>
        <p:spPr>
          <a:xfrm>
            <a:off x="1971740" y="459553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004" b="1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55" name="Google Shape;155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3723" y="2672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6" name="Google Shape;156;p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71750" y="1076474"/>
            <a:ext cx="5499700" cy="1758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146700" y="3051425"/>
            <a:ext cx="7548640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761325" y="4076775"/>
            <a:ext cx="6319398" cy="1266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0"/>
          <p:cNvSpPr txBox="1"/>
          <p:nvPr/>
        </p:nvSpPr>
        <p:spPr>
          <a:xfrm>
            <a:off x="1819340" y="380453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004" b="1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64" name="Google Shape;164;p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0825" y="1069798"/>
            <a:ext cx="8839202" cy="115909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6" name="Google Shape;166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84625" y="2978618"/>
            <a:ext cx="8839200" cy="14604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11"/>
          <p:cNvSpPr txBox="1"/>
          <p:nvPr/>
        </p:nvSpPr>
        <p:spPr>
          <a:xfrm>
            <a:off x="1590015" y="405190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004" b="1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72" name="Google Shape;172;p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3" name="Google Shape;173;p1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6500" y="972151"/>
            <a:ext cx="7760192" cy="1196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1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66550" y="2340452"/>
            <a:ext cx="4958300" cy="1968200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11"/>
          <p:cNvSpPr txBox="1"/>
          <p:nvPr/>
        </p:nvSpPr>
        <p:spPr>
          <a:xfrm>
            <a:off x="5423275" y="2715300"/>
            <a:ext cx="4744800" cy="6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Struttura del progetto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"/>
          <p:cNvSpPr txBox="1"/>
          <p:nvPr/>
        </p:nvSpPr>
        <p:spPr>
          <a:xfrm>
            <a:off x="1811490" y="11851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004" b="1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82" name="Google Shape;182;p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28348" y="9809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p1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04800" y="1936811"/>
            <a:ext cx="8839204" cy="750987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Google Shape;184;p1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38550" y="3038623"/>
            <a:ext cx="8839199" cy="7767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"/>
          <p:cNvSpPr txBox="1"/>
          <p:nvPr/>
        </p:nvSpPr>
        <p:spPr>
          <a:xfrm>
            <a:off x="1885340" y="319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004" b="1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90" name="Google Shape;190;p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1" name="Google Shape;191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5174" y="1106047"/>
            <a:ext cx="4459925" cy="2827425"/>
          </a:xfrm>
          <a:prstGeom prst="rect">
            <a:avLst/>
          </a:prstGeom>
          <a:noFill/>
          <a:ln>
            <a:noFill/>
          </a:ln>
        </p:spPr>
      </p:pic>
      <p:sp>
        <p:nvSpPr>
          <p:cNvPr id="192" name="Google Shape;192;p13"/>
          <p:cNvSpPr txBox="1"/>
          <p:nvPr/>
        </p:nvSpPr>
        <p:spPr>
          <a:xfrm>
            <a:off x="5135325" y="1484800"/>
            <a:ext cx="4651200" cy="166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Codice sorgente 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 gli unit test da 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implementare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14"/>
          <p:cNvSpPr txBox="1"/>
          <p:nvPr/>
        </p:nvSpPr>
        <p:spPr>
          <a:xfrm>
            <a:off x="1873040" y="319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004" b="1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98" name="Google Shape;198;p1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9" name="Google Shape;199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75024" y="1133351"/>
            <a:ext cx="3352701" cy="2876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0" name="Google Shape;200;p1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475400" y="1915950"/>
            <a:ext cx="5339750" cy="708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3a9b731e4a8_0_31"/>
          <p:cNvSpPr txBox="1"/>
          <p:nvPr/>
        </p:nvSpPr>
        <p:spPr>
          <a:xfrm>
            <a:off x="1897640" y="1106590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004" b="1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207" name="Google Shape;207;g3a9b731e4a8_0_3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5923" y="902373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g3a9b731e4a8_0_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30525" y="1507400"/>
            <a:ext cx="6447201" cy="2164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9" name="Google Shape;209;g3a9b731e4a8_0_3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09250" y="3351325"/>
            <a:ext cx="8839200" cy="5815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a9b731e4a8_0_40"/>
          <p:cNvSpPr txBox="1"/>
          <p:nvPr/>
        </p:nvSpPr>
        <p:spPr>
          <a:xfrm>
            <a:off x="1873040" y="319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004" b="1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216" name="Google Shape;216;g3a9b731e4a8_0_4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7" name="Google Shape;217;g3a9b731e4a8_0_4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375" y="1007624"/>
            <a:ext cx="6401477" cy="3725699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g3a9b731e4a8_0_40"/>
          <p:cNvSpPr txBox="1"/>
          <p:nvPr/>
        </p:nvSpPr>
        <p:spPr>
          <a:xfrm>
            <a:off x="4849650" y="1784700"/>
            <a:ext cx="3888300" cy="8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 l’immagine precedente questa è la logica sottostante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3a9b731e4a8_0_48"/>
          <p:cNvSpPr txBox="1"/>
          <p:nvPr/>
        </p:nvSpPr>
        <p:spPr>
          <a:xfrm>
            <a:off x="1873040" y="319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004" b="1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225" name="Google Shape;225;g3a9b731e4a8_0_4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6" name="Google Shape;226;g3a9b731e4a8_0_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7700" y="1058061"/>
            <a:ext cx="8839204" cy="1182589"/>
          </a:xfrm>
          <a:prstGeom prst="rect">
            <a:avLst/>
          </a:prstGeom>
          <a:noFill/>
          <a:ln>
            <a:noFill/>
          </a:ln>
        </p:spPr>
      </p:pic>
      <p:pic>
        <p:nvPicPr>
          <p:cNvPr id="227" name="Google Shape;227;g3a9b731e4a8_0_4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2400" y="2240650"/>
            <a:ext cx="8839204" cy="2123481"/>
          </a:xfrm>
          <a:prstGeom prst="rect">
            <a:avLst/>
          </a:prstGeom>
          <a:noFill/>
          <a:ln>
            <a:noFill/>
          </a:ln>
        </p:spPr>
      </p:pic>
      <p:pic>
        <p:nvPicPr>
          <p:cNvPr id="228" name="Google Shape;228;g3a9b731e4a8_0_4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52400" y="4516530"/>
            <a:ext cx="8756029" cy="4745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g3a9b731e4a8_0_59"/>
          <p:cNvSpPr txBox="1"/>
          <p:nvPr/>
        </p:nvSpPr>
        <p:spPr>
          <a:xfrm>
            <a:off x="1873040" y="319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004" b="1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235" name="Google Shape;235;g3a9b731e4a8_0_5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6" name="Google Shape;236;g3a9b731e4a8_0_5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532452" y="719877"/>
            <a:ext cx="3131949" cy="2110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Google Shape;237;g3a9b731e4a8_0_5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95425" y="3135823"/>
            <a:ext cx="7953126" cy="2007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234;g3a9b731e4a8_0_59">
            <a:extLst>
              <a:ext uri="{FF2B5EF4-FFF2-40B4-BE49-F238E27FC236}">
                <a16:creationId xmlns:a16="http://schemas.microsoft.com/office/drawing/2014/main" id="{9AFC9425-5DE0-9EAF-F0D0-F74516F6CC85}"/>
              </a:ext>
            </a:extLst>
          </p:cNvPr>
          <p:cNvSpPr txBox="1"/>
          <p:nvPr/>
        </p:nvSpPr>
        <p:spPr>
          <a:xfrm>
            <a:off x="1873040" y="319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004" b="1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7" name="Google Shape;235;g3a9b731e4a8_0_59">
            <a:extLst>
              <a:ext uri="{FF2B5EF4-FFF2-40B4-BE49-F238E27FC236}">
                <a16:creationId xmlns:a16="http://schemas.microsoft.com/office/drawing/2014/main" id="{9C2331DC-E4E6-928E-AF1C-3DF0D7813D9B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CasellaDiTesto 8">
            <a:extLst>
              <a:ext uri="{FF2B5EF4-FFF2-40B4-BE49-F238E27FC236}">
                <a16:creationId xmlns:a16="http://schemas.microsoft.com/office/drawing/2014/main" id="{D7A426B3-3918-F230-7647-30C22685D936}"/>
              </a:ext>
            </a:extLst>
          </p:cNvPr>
          <p:cNvSpPr txBox="1"/>
          <p:nvPr/>
        </p:nvSpPr>
        <p:spPr>
          <a:xfrm>
            <a:off x="1452066" y="996979"/>
            <a:ext cx="623986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dirty="0"/>
              <a:t>Algoritmo generalizzato per calcolare la distanza totale tra due liste</a:t>
            </a:r>
          </a:p>
        </p:txBody>
      </p:sp>
      <p:sp>
        <p:nvSpPr>
          <p:cNvPr id="11" name="Rectangle 2">
            <a:extLst>
              <a:ext uri="{FF2B5EF4-FFF2-40B4-BE49-F238E27FC236}">
                <a16:creationId xmlns:a16="http://schemas.microsoft.com/office/drawing/2014/main" id="{B05FFD96-C354-CC02-67B7-812AF94CA0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52066" y="1377662"/>
            <a:ext cx="5849384" cy="16619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it-IT" altLang="it-IT" sz="2800" dirty="0"/>
              <a:t>Hai</a:t>
            </a:r>
            <a:r>
              <a:rPr kumimoji="0" lang="it-IT" altLang="it-IT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due liste di numeri: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L = [l₁, l₂, …, lₙ]</a:t>
            </a:r>
            <a:endParaRPr kumimoji="0" lang="it-IT" altLang="it-IT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R = [r₁, r₂, …, rₙ]</a:t>
            </a:r>
            <a:endParaRPr kumimoji="0" lang="it-IT" altLang="it-IT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it-IT" altLang="it-IT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42A9ECD1-6865-4F7C-77B3-14390A7386D5}"/>
              </a:ext>
            </a:extLst>
          </p:cNvPr>
          <p:cNvSpPr txBox="1"/>
          <p:nvPr/>
        </p:nvSpPr>
        <p:spPr>
          <a:xfrm>
            <a:off x="1452066" y="2978885"/>
            <a:ext cx="4572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b="1" dirty="0"/>
              <a:t>Obiettivo:</a:t>
            </a:r>
          </a:p>
          <a:p>
            <a:r>
              <a:rPr lang="it-IT" dirty="0"/>
              <a:t>Ordinare entrambe le liste e sommare le distanze assolute degli elementi in posizione corrispondente.</a:t>
            </a:r>
          </a:p>
        </p:txBody>
      </p:sp>
    </p:spTree>
    <p:extLst>
      <p:ext uri="{BB962C8B-B14F-4D97-AF65-F5344CB8AC3E}">
        <p14:creationId xmlns:p14="http://schemas.microsoft.com/office/powerpoint/2010/main" val="21264771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234;g3a9b731e4a8_0_59">
            <a:extLst>
              <a:ext uri="{FF2B5EF4-FFF2-40B4-BE49-F238E27FC236}">
                <a16:creationId xmlns:a16="http://schemas.microsoft.com/office/drawing/2014/main" id="{C4A75FF6-9B54-38E2-AEA5-E987DF2A1D2E}"/>
              </a:ext>
            </a:extLst>
          </p:cNvPr>
          <p:cNvSpPr txBox="1"/>
          <p:nvPr/>
        </p:nvSpPr>
        <p:spPr>
          <a:xfrm>
            <a:off x="1873040" y="319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004" b="1" dirty="0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 dirty="0"/>
          </a:p>
        </p:txBody>
      </p:sp>
      <p:pic>
        <p:nvPicPr>
          <p:cNvPr id="5" name="Google Shape;235;g3a9b731e4a8_0_59">
            <a:extLst>
              <a:ext uri="{FF2B5EF4-FFF2-40B4-BE49-F238E27FC236}">
                <a16:creationId xmlns:a16="http://schemas.microsoft.com/office/drawing/2014/main" id="{1BCDF16E-F7FF-D3D7-4683-E5964CDAAB48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B734183E-4B9A-1740-0DEB-A4D4A82CAB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73040" y="1063645"/>
            <a:ext cx="4816704" cy="30162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it-IT" altLang="it-IT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Passi dell’algoritmo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it-IT" altLang="it-IT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it-IT" altLang="it-IT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1. Leggi le due liste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it-IT" altLang="it-IT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Estrarre i numeri della prima colonna nella lista </a:t>
            </a:r>
            <a:r>
              <a:rPr kumimoji="0" lang="it-IT" altLang="it-IT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L</a:t>
            </a:r>
            <a:r>
              <a:rPr kumimoji="0" lang="it-IT" altLang="it-IT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e quelli della seconda colonna nella lista </a:t>
            </a:r>
            <a:r>
              <a:rPr kumimoji="0" lang="it-IT" altLang="it-IT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R</a:t>
            </a:r>
            <a:r>
              <a:rPr kumimoji="0" lang="it-IT" altLang="it-IT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it-IT" dirty="0"/>
              <a:t>2. </a:t>
            </a:r>
            <a:r>
              <a:rPr lang="it-IT" b="1" dirty="0">
                <a:solidFill>
                  <a:schemeClr val="tx1"/>
                </a:solidFill>
                <a:latin typeface="Arial" panose="020B0604020202020204" pitchFamily="34" charset="0"/>
              </a:rPr>
              <a:t>Ordina entrambe le liste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it-IT" altLang="it-IT" b="1" dirty="0">
                <a:solidFill>
                  <a:schemeClr val="tx1"/>
                </a:solidFill>
                <a:latin typeface="Arial" panose="020B0604020202020204" pitchFamily="34" charset="0"/>
              </a:rPr>
              <a:t>sort(L)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it-IT" altLang="it-IT" b="1" dirty="0">
                <a:solidFill>
                  <a:schemeClr val="tx1"/>
                </a:solidFill>
                <a:latin typeface="Arial" panose="020B0604020202020204" pitchFamily="34" charset="0"/>
              </a:rPr>
              <a:t>sort(R)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it-IT" dirty="0"/>
              <a:t>3. </a:t>
            </a:r>
            <a:r>
              <a:rPr lang="it-IT" b="1" dirty="0">
                <a:solidFill>
                  <a:schemeClr val="tx1"/>
                </a:solidFill>
                <a:latin typeface="Arial" panose="020B0604020202020204" pitchFamily="34" charset="0"/>
              </a:rPr>
              <a:t>Calcola la distanza cumulativa </a:t>
            </a:r>
            <a:r>
              <a:rPr kumimoji="0" lang="it-IT" altLang="it-IT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Per ogni indice </a:t>
            </a: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i</a:t>
            </a: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da </a:t>
            </a: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0</a:t>
            </a: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 </a:t>
            </a: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n-1</a:t>
            </a: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  <a:endParaRPr kumimoji="0" lang="it-IT" altLang="it-IT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Unicode MS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it-IT" dirty="0"/>
              <a:t>Somma tutte le distanze </a:t>
            </a:r>
            <a:r>
              <a:rPr lang="it-IT" dirty="0" err="1"/>
              <a:t>distanza_totale</a:t>
            </a:r>
            <a:r>
              <a:rPr lang="it-IT" dirty="0"/>
              <a:t> = Σ </a:t>
            </a:r>
            <a:r>
              <a:rPr lang="it-IT" dirty="0" err="1"/>
              <a:t>abs</a:t>
            </a:r>
            <a:r>
              <a:rPr lang="it-IT" dirty="0"/>
              <a:t>(L[i] - R[i])</a:t>
            </a:r>
            <a:endParaRPr lang="it-IT" altLang="it-IT" b="1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it-IT" altLang="it-IT" b="1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it-IT" altLang="it-IT" b="1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606475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234;g3a9b731e4a8_0_59">
            <a:extLst>
              <a:ext uri="{FF2B5EF4-FFF2-40B4-BE49-F238E27FC236}">
                <a16:creationId xmlns:a16="http://schemas.microsoft.com/office/drawing/2014/main" id="{879F89FA-4A11-6FD8-16C2-893617E2CD29}"/>
              </a:ext>
            </a:extLst>
          </p:cNvPr>
          <p:cNvSpPr txBox="1"/>
          <p:nvPr/>
        </p:nvSpPr>
        <p:spPr>
          <a:xfrm>
            <a:off x="1873040" y="319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004" b="1" dirty="0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 dirty="0"/>
          </a:p>
        </p:txBody>
      </p:sp>
      <p:pic>
        <p:nvPicPr>
          <p:cNvPr id="5" name="Google Shape;235;g3a9b731e4a8_0_59">
            <a:extLst>
              <a:ext uri="{FF2B5EF4-FFF2-40B4-BE49-F238E27FC236}">
                <a16:creationId xmlns:a16="http://schemas.microsoft.com/office/drawing/2014/main" id="{5577E92C-BD82-138C-CA5C-B7E5701E38DD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546E7B2A-45FA-E1A4-A5C8-1EAF951CDD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1096" y="834935"/>
            <a:ext cx="5010407" cy="3473629"/>
          </a:xfrm>
          <a:prstGeom prst="rect">
            <a:avLst/>
          </a:prstGeom>
        </p:spPr>
      </p:pic>
      <p:sp>
        <p:nvSpPr>
          <p:cNvPr id="9" name="CasellaDiTesto 8">
            <a:extLst>
              <a:ext uri="{FF2B5EF4-FFF2-40B4-BE49-F238E27FC236}">
                <a16:creationId xmlns:a16="http://schemas.microsoft.com/office/drawing/2014/main" id="{216FA822-2432-379A-C79D-A6B8A04B70C1}"/>
              </a:ext>
            </a:extLst>
          </p:cNvPr>
          <p:cNvSpPr txBox="1"/>
          <p:nvPr/>
        </p:nvSpPr>
        <p:spPr>
          <a:xfrm>
            <a:off x="753171" y="4423634"/>
            <a:ext cx="78662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Si è realizzato un servizio per implementare l’algoritmo utilizzando il package </a:t>
            </a:r>
            <a:r>
              <a:rPr lang="it-IT" dirty="0" err="1"/>
              <a:t>FastApi</a:t>
            </a:r>
            <a:r>
              <a:rPr lang="it-IT" dirty="0"/>
              <a:t> che integra</a:t>
            </a:r>
          </a:p>
          <a:p>
            <a:r>
              <a:rPr lang="it-IT" dirty="0"/>
              <a:t>anche </a:t>
            </a:r>
            <a:r>
              <a:rPr lang="it-IT" dirty="0" err="1"/>
              <a:t>swagger</a:t>
            </a:r>
            <a:r>
              <a:rPr lang="it-IT" dirty="0"/>
              <a:t> per testare il servizio e il calcolo algoritmo  </a:t>
            </a:r>
          </a:p>
        </p:txBody>
      </p:sp>
    </p:spTree>
    <p:extLst>
      <p:ext uri="{BB962C8B-B14F-4D97-AF65-F5344CB8AC3E}">
        <p14:creationId xmlns:p14="http://schemas.microsoft.com/office/powerpoint/2010/main" val="30354269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234;g3a9b731e4a8_0_59">
            <a:extLst>
              <a:ext uri="{FF2B5EF4-FFF2-40B4-BE49-F238E27FC236}">
                <a16:creationId xmlns:a16="http://schemas.microsoft.com/office/drawing/2014/main" id="{C72B940D-D2AD-30CB-7EA3-1863E85FFE9C}"/>
              </a:ext>
            </a:extLst>
          </p:cNvPr>
          <p:cNvSpPr txBox="1"/>
          <p:nvPr/>
        </p:nvSpPr>
        <p:spPr>
          <a:xfrm>
            <a:off x="1873040" y="319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004" b="1" dirty="0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 dirty="0"/>
          </a:p>
        </p:txBody>
      </p:sp>
      <p:pic>
        <p:nvPicPr>
          <p:cNvPr id="5" name="Google Shape;235;g3a9b731e4a8_0_59">
            <a:extLst>
              <a:ext uri="{FF2B5EF4-FFF2-40B4-BE49-F238E27FC236}">
                <a16:creationId xmlns:a16="http://schemas.microsoft.com/office/drawing/2014/main" id="{D26AC762-CFF4-6BED-6C86-BE4C234815CA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B919CE02-818A-132A-C3E0-0EF9BBAF6D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8835" y="1021977"/>
            <a:ext cx="5916706" cy="2736159"/>
          </a:xfrm>
          <a:prstGeom prst="rect">
            <a:avLst/>
          </a:prstGeom>
        </p:spPr>
      </p:pic>
      <p:sp>
        <p:nvSpPr>
          <p:cNvPr id="8" name="CasellaDiTesto 7">
            <a:extLst>
              <a:ext uri="{FF2B5EF4-FFF2-40B4-BE49-F238E27FC236}">
                <a16:creationId xmlns:a16="http://schemas.microsoft.com/office/drawing/2014/main" id="{C9B8C36C-1AF5-A67E-4527-BFE7E4A08C08}"/>
              </a:ext>
            </a:extLst>
          </p:cNvPr>
          <p:cNvSpPr txBox="1"/>
          <p:nvPr/>
        </p:nvSpPr>
        <p:spPr>
          <a:xfrm>
            <a:off x="2030507" y="3906359"/>
            <a:ext cx="48910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Testing dell’algoritmo del calcolo delle distanze tra due liste</a:t>
            </a:r>
          </a:p>
        </p:txBody>
      </p:sp>
    </p:spTree>
    <p:extLst>
      <p:ext uri="{BB962C8B-B14F-4D97-AF65-F5344CB8AC3E}">
        <p14:creationId xmlns:p14="http://schemas.microsoft.com/office/powerpoint/2010/main" val="65715853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234;g3a9b731e4a8_0_59">
            <a:extLst>
              <a:ext uri="{FF2B5EF4-FFF2-40B4-BE49-F238E27FC236}">
                <a16:creationId xmlns:a16="http://schemas.microsoft.com/office/drawing/2014/main" id="{9A449A1F-5D20-AE91-EB7D-B702C7CE1007}"/>
              </a:ext>
            </a:extLst>
          </p:cNvPr>
          <p:cNvSpPr txBox="1"/>
          <p:nvPr/>
        </p:nvSpPr>
        <p:spPr>
          <a:xfrm>
            <a:off x="1873040" y="319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004" b="1" dirty="0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 dirty="0"/>
          </a:p>
        </p:txBody>
      </p:sp>
      <p:pic>
        <p:nvPicPr>
          <p:cNvPr id="5" name="Google Shape;235;g3a9b731e4a8_0_59">
            <a:extLst>
              <a:ext uri="{FF2B5EF4-FFF2-40B4-BE49-F238E27FC236}">
                <a16:creationId xmlns:a16="http://schemas.microsoft.com/office/drawing/2014/main" id="{448F1734-EE78-7740-BD85-28C136069315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4F2A0C9B-3A84-7104-6E37-C660D16837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601" y="1015252"/>
            <a:ext cx="3408193" cy="3467986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5200E1C3-5CDC-A91A-BB3C-1CC79B64F7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19410" y="1015252"/>
            <a:ext cx="3955022" cy="3143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1393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2" name="Google Shape;242;p1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20472" y="218883"/>
            <a:ext cx="1424500" cy="909075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15"/>
          <p:cNvSpPr txBox="1"/>
          <p:nvPr/>
        </p:nvSpPr>
        <p:spPr>
          <a:xfrm>
            <a:off x="2344965" y="552703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004" b="1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sp>
        <p:nvSpPr>
          <p:cNvPr id="244" name="Google Shape;244;p15"/>
          <p:cNvSpPr txBox="1"/>
          <p:nvPr/>
        </p:nvSpPr>
        <p:spPr>
          <a:xfrm>
            <a:off x="1066500" y="1059426"/>
            <a:ext cx="807750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6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Grazie a Python Pescara</a:t>
            </a:r>
            <a:endParaRPr dirty="0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0D471D2A-A1D9-C00B-3794-09B15D2B35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17697" y="2075048"/>
            <a:ext cx="1986790" cy="2012761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F087BDE6-D038-1846-5F2D-C091A6D99C53}"/>
              </a:ext>
            </a:extLst>
          </p:cNvPr>
          <p:cNvSpPr txBox="1"/>
          <p:nvPr/>
        </p:nvSpPr>
        <p:spPr>
          <a:xfrm>
            <a:off x="2343636" y="4236622"/>
            <a:ext cx="16674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Linkedin </a:t>
            </a:r>
            <a:r>
              <a:rPr lang="it-IT" dirty="0" err="1"/>
              <a:t>profile</a:t>
            </a:r>
            <a:r>
              <a:rPr lang="it-IT" dirty="0"/>
              <a:t> Url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9BD2DCA9-232F-5236-B703-1F8FF23F862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2789" y="2230734"/>
            <a:ext cx="1862407" cy="1876068"/>
          </a:xfrm>
          <a:prstGeom prst="rect">
            <a:avLst/>
          </a:prstGeom>
        </p:spPr>
      </p:pic>
      <p:sp>
        <p:nvSpPr>
          <p:cNvPr id="7" name="CasellaDiTesto 6">
            <a:extLst>
              <a:ext uri="{FF2B5EF4-FFF2-40B4-BE49-F238E27FC236}">
                <a16:creationId xmlns:a16="http://schemas.microsoft.com/office/drawing/2014/main" id="{507376FF-1D41-D4A7-8414-35C157859D3D}"/>
              </a:ext>
            </a:extLst>
          </p:cNvPr>
          <p:cNvSpPr txBox="1"/>
          <p:nvPr/>
        </p:nvSpPr>
        <p:spPr>
          <a:xfrm>
            <a:off x="5246306" y="4241669"/>
            <a:ext cx="20553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/>
              <a:t>Github</a:t>
            </a:r>
            <a:r>
              <a:rPr lang="it-IT" dirty="0"/>
              <a:t> </a:t>
            </a:r>
            <a:r>
              <a:rPr lang="it-IT" dirty="0" err="1"/>
              <a:t>url</a:t>
            </a:r>
            <a:r>
              <a:rPr lang="it-IT" dirty="0"/>
              <a:t> Sample code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480</Words>
  <Application>Microsoft Office PowerPoint</Application>
  <PresentationFormat>Presentazione su schermo (16:9)</PresentationFormat>
  <Paragraphs>67</Paragraphs>
  <Slides>24</Slides>
  <Notes>19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24</vt:i4>
      </vt:variant>
    </vt:vector>
  </HeadingPairs>
  <TitlesOfParts>
    <vt:vector size="29" baseType="lpstr">
      <vt:lpstr>Arial</vt:lpstr>
      <vt:lpstr>Arial Unicode MS</vt:lpstr>
      <vt:lpstr>Calibri</vt:lpstr>
      <vt:lpstr>Noto Sans Symbols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Francesco Spalluzzi</dc:creator>
  <cp:lastModifiedBy>Francesco Spalluzzi</cp:lastModifiedBy>
  <cp:revision>4</cp:revision>
  <dcterms:created xsi:type="dcterms:W3CDTF">2006-08-16T00:00:00Z</dcterms:created>
  <dcterms:modified xsi:type="dcterms:W3CDTF">2025-11-27T10:20:02Z</dcterms:modified>
</cp:coreProperties>
</file>
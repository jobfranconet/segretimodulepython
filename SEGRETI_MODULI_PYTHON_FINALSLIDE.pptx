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9">
          <p15:clr>
            <a:srgbClr val="A4A3A4"/>
          </p15:clr>
        </p15:guide>
        <p15:guide id="2" pos="3485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g4jxvMnVkbDpGJSnE2xfucn5yl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9" orient="horz"/>
        <p:guide pos="348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a291deda2_0_0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a291deda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9a291deda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291deda2_0_29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a291deda2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9a291deda2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d6459f57e_0_0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d6459f57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ad6459f57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9b731e4a8_0_31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9b731e4a8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a9b731e4a8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9b731e4a8_0_40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9b731e4a8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a9b731e4a8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660da28e9_0_0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8660da28e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8660da28e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9a291deda2_1_0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9a291deda2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9a291deda2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a291deda2_1_14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a291deda2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9a291deda2_1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a291deda2_1_23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9a291deda2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9a291deda2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a291deda2_1_39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9a291deda2_1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9a291deda2_1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a291deda2_1_50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9a291deda2_1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9a291deda2_1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d6459f57e_2_0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d6459f57e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ad6459f57e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a6201ac61_0_0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a6201ac6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aa6201ac6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a6201ac61_0_6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a6201ac61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aa6201ac61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c9e9082d3_0_11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c9e9082d3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ac9e9082d3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c9e796f79_0_0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c9e796f7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ac9e796f7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d6459f57e_1_3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d6459f57e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ad6459f57e_1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a6201ac61_0_12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a6201ac61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aa6201ac61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c9e796f79_0_6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c9e796f79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ac9e796f79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d6459f57e_1_9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ad6459f57e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ad6459f57e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d6459f57e_1_15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ad6459f57e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ad6459f57e_1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d6459f57e_1_22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ad6459f57e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ad6459f57e_1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a6201ac61_0_26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a6201ac61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aa6201ac61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:notes"/>
          <p:cNvSpPr/>
          <p:nvPr>
            <p:ph idx="2" type="sldImg"/>
          </p:nvPr>
        </p:nvSpPr>
        <p:spPr>
          <a:xfrm>
            <a:off x="685260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553250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3780545" y="3057389"/>
            <a:ext cx="350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7929923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829876" y="1024729"/>
            <a:ext cx="94053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659751" y="1869253"/>
            <a:ext cx="77454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553250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3780545" y="3057389"/>
            <a:ext cx="350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7929923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553250" y="132100"/>
            <a:ext cx="9958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553250" y="769692"/>
            <a:ext cx="9958500" cy="21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553250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3780545" y="3057389"/>
            <a:ext cx="350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7929923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874059" y="2119708"/>
            <a:ext cx="94053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874059" y="1398122"/>
            <a:ext cx="94053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553250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3780545" y="3057389"/>
            <a:ext cx="350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7929923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553250" y="132100"/>
            <a:ext cx="9958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553250" y="769692"/>
            <a:ext cx="4887000" cy="21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5624713" y="769692"/>
            <a:ext cx="4887000" cy="21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553250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3780545" y="3057389"/>
            <a:ext cx="350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7929923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553250" y="132100"/>
            <a:ext cx="9958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553250" y="738386"/>
            <a:ext cx="48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553250" y="1046110"/>
            <a:ext cx="4889100" cy="19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5620871" y="738386"/>
            <a:ext cx="489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5620871" y="1046110"/>
            <a:ext cx="4890900" cy="19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553250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3780545" y="3057389"/>
            <a:ext cx="350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7929923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553250" y="132100"/>
            <a:ext cx="9958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553250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3780545" y="3057389"/>
            <a:ext cx="350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7929923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553250" y="131336"/>
            <a:ext cx="36402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4326111" y="131336"/>
            <a:ext cx="6185700" cy="28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553250" y="690280"/>
            <a:ext cx="3640200" cy="22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553250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3780545" y="3057389"/>
            <a:ext cx="350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7929923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2168819" y="2309077"/>
            <a:ext cx="66390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2168819" y="294743"/>
            <a:ext cx="6639000" cy="1979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2168819" y="2581677"/>
            <a:ext cx="66390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553250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3780545" y="3057389"/>
            <a:ext cx="350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7929923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553250" y="132100"/>
            <a:ext cx="9958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4443958" y="-3121008"/>
            <a:ext cx="2177100" cy="99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553250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3780545" y="3057389"/>
            <a:ext cx="350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7929923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7859608" y="294550"/>
            <a:ext cx="2814600" cy="24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2788114" y="-2102900"/>
            <a:ext cx="2814600" cy="72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553250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3780545" y="3057389"/>
            <a:ext cx="350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7929923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553250" y="132100"/>
            <a:ext cx="9958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553250" y="769692"/>
            <a:ext cx="9958500" cy="21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553250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780545" y="3057389"/>
            <a:ext cx="350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7929923" y="3057389"/>
            <a:ext cx="258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://jobformazione.i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://nomefile.py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Relationship Id="rId4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Relationship Id="rId6" Type="http://schemas.openxmlformats.org/officeDocument/2006/relationships/image" Target="../media/image4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9a291deda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8377" y="114900"/>
            <a:ext cx="2568903" cy="16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9a291deda2_0_0"/>
          <p:cNvSpPr txBox="1"/>
          <p:nvPr/>
        </p:nvSpPr>
        <p:spPr>
          <a:xfrm>
            <a:off x="260825" y="2898000"/>
            <a:ext cx="951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400" u="none" cap="none" strike="noStrike">
                <a:solidFill>
                  <a:srgbClr val="0F4761"/>
                </a:solidFill>
              </a:rPr>
              <a:t>04 Dicembre 2025 – Segreti sui moduli Python</a:t>
            </a:r>
            <a:endParaRPr b="1" sz="2400"/>
          </a:p>
        </p:txBody>
      </p:sp>
      <p:sp>
        <p:nvSpPr>
          <p:cNvPr id="91" name="Google Shape;91;g39a291deda2_0_0"/>
          <p:cNvSpPr txBox="1"/>
          <p:nvPr/>
        </p:nvSpPr>
        <p:spPr>
          <a:xfrm>
            <a:off x="1473725" y="1913663"/>
            <a:ext cx="708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FRANCESCO SPALLUZZI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9a291deda2_0_0"/>
          <p:cNvSpPr txBox="1"/>
          <p:nvPr/>
        </p:nvSpPr>
        <p:spPr>
          <a:xfrm>
            <a:off x="1714525" y="3420625"/>
            <a:ext cx="628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francescospalluzzi@gmail.com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9a291deda2_0_0"/>
          <p:cNvSpPr txBox="1"/>
          <p:nvPr/>
        </p:nvSpPr>
        <p:spPr>
          <a:xfrm>
            <a:off x="1765025" y="4269825"/>
            <a:ext cx="67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/>
              <a:t>https://github.com/jobFrancoNet/segretiModulePython.git</a:t>
            </a:r>
            <a:endParaRPr b="1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 txBox="1"/>
          <p:nvPr/>
        </p:nvSpPr>
        <p:spPr>
          <a:xfrm>
            <a:off x="1252497" y="772991"/>
            <a:ext cx="71922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i="0" lang="it-IT" sz="3200" u="none" cap="none" strike="noStrike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Segreti sui moduli Python</a:t>
            </a:r>
            <a:endParaRPr b="1" i="0" sz="3200" u="none" cap="none" strike="noStrike">
              <a:solidFill>
                <a:srgbClr val="0F47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1680890" y="277000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004" u="none" cap="none" strike="noStrike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551326" y="1256099"/>
            <a:ext cx="8147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lang="it-IT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Cos’è un modulo standalone in Python</a:t>
            </a:r>
            <a:endParaRPr sz="1200"/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lang="it-IT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Possibilità di creare più ambienti associati a più versioni di Python sulla workstation</a:t>
            </a:r>
            <a:endParaRPr sz="1200"/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lang="it-IT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possibili utilizzi di python –m in diversi scenari:</a:t>
            </a:r>
            <a:endParaRPr sz="1200"/>
          </a:p>
          <a:p>
            <a:pPr indent="-2730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it-IT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Contesto web</a:t>
            </a:r>
            <a:endParaRPr sz="1200"/>
          </a:p>
          <a:p>
            <a:pPr indent="-2730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it-IT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Avviare il debug interattivo di uno script</a:t>
            </a:r>
            <a:endParaRPr sz="1200"/>
          </a:p>
          <a:p>
            <a:pPr indent="-2730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it-IT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Misurare il tempo di esecuzione di uno script</a:t>
            </a:r>
            <a:endParaRPr sz="1200"/>
          </a:p>
          <a:p>
            <a:pPr indent="-2730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it-IT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Discovery automatico degli unit test in python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it-IT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Mostrare nel terminale i percorsi attivi dei pacchetti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/>
        </p:nvSpPr>
        <p:spPr>
          <a:xfrm>
            <a:off x="3146525" y="1592402"/>
            <a:ext cx="36786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8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6000">
                <a:solidFill>
                  <a:srgbClr val="0F4761"/>
                </a:solidFill>
              </a:rPr>
              <a:t>About me</a:t>
            </a:r>
            <a:endParaRPr sz="6000"/>
          </a:p>
        </p:txBody>
      </p:sp>
      <p:sp>
        <p:nvSpPr>
          <p:cNvPr id="107" name="Google Shape;107;p2"/>
          <p:cNvSpPr txBox="1"/>
          <p:nvPr/>
        </p:nvSpPr>
        <p:spPr>
          <a:xfrm>
            <a:off x="2037040" y="956278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173" y="73009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425" y="2634926"/>
            <a:ext cx="1457775" cy="15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2396700" y="2565575"/>
            <a:ext cx="6747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/>
              <a:t>DotNet Developer</a:t>
            </a:r>
            <a:r>
              <a:rPr lang="it-IT"/>
              <a:t> con esperienza pluriennale nello sviluppo di soluzioni software utilizzando tecnologie Microsoft, con focus su .NET Framework, .NET Core, e strumenti moderni come Blazor e Azure. Forte capacità di lavorare in team medio-grandi e competenze consolidate nella progettazione, sviluppo e ottimizzazione di applicazioni web e servizi backend e Training in .NET E Python per </a:t>
            </a:r>
            <a:r>
              <a:rPr lang="it-IT" u="sng">
                <a:solidFill>
                  <a:schemeClr val="hlink"/>
                </a:solidFill>
                <a:hlinkClick r:id="rId5"/>
              </a:rPr>
              <a:t>Jobformazione.it</a:t>
            </a:r>
            <a:r>
              <a:rPr lang="it-IT"/>
              <a:t> - </a:t>
            </a:r>
            <a:r>
              <a:rPr b="1" lang="it-IT"/>
              <a:t>Coach per Django girls</a:t>
            </a:r>
            <a:r>
              <a:rPr lang="it-IT"/>
              <a:t> al DevFest Pescara 2025 - Talk di un anno fa su </a:t>
            </a:r>
            <a:r>
              <a:rPr b="1" lang="it-IT"/>
              <a:t>ORM SqlAlchemy </a:t>
            </a:r>
            <a:r>
              <a:rPr lang="it-IT"/>
              <a:t>per Python Pescara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2" y="114848"/>
            <a:ext cx="1356125" cy="86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1907440" y="37606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233750" y="1255125"/>
            <a:ext cx="8999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Un modulo in Python è semplicemente un file .py che contiene codice Python: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-IT" sz="1800"/>
              <a:t>funzioni e/o procedure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-IT" sz="1800"/>
              <a:t>definizioni di classi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-IT" sz="1800"/>
              <a:t>variabili o anche codice eseguibile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Quando diciamo "</a:t>
            </a:r>
            <a:r>
              <a:rPr b="1" lang="it-IT" sz="1800"/>
              <a:t>modulo standalone</a:t>
            </a:r>
            <a:r>
              <a:rPr lang="it-IT" sz="1800"/>
              <a:t>" di solito intendiamo: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un modulo che può funzionare da solo, cioè che può essere eseguito direttamente con </a:t>
            </a:r>
            <a:r>
              <a:rPr b="1" lang="it-IT" sz="1800"/>
              <a:t>python </a:t>
            </a:r>
            <a:r>
              <a:rPr b="1" lang="it-IT" sz="1800" u="sng">
                <a:solidFill>
                  <a:schemeClr val="hlink"/>
                </a:solidFill>
                <a:hlinkClick r:id="rId4"/>
              </a:rPr>
              <a:t>nomefile.py</a:t>
            </a:r>
            <a:r>
              <a:rPr b="1" lang="it-IT" sz="1800"/>
              <a:t>,</a:t>
            </a:r>
            <a:r>
              <a:rPr b="1" lang="it-IT" sz="1800"/>
              <a:t> </a:t>
            </a:r>
            <a:r>
              <a:rPr lang="it-IT" sz="1800"/>
              <a:t>m</a:t>
            </a:r>
            <a:r>
              <a:rPr lang="it-IT" sz="1800"/>
              <a:t>a allo stesso tempo può essere </a:t>
            </a:r>
            <a:r>
              <a:rPr b="1" lang="it-IT" sz="1800"/>
              <a:t>importato da altri script </a:t>
            </a:r>
            <a:r>
              <a:rPr lang="it-IT" sz="1800"/>
              <a:t>senza problemi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2094515" y="31906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548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9350" y="990325"/>
            <a:ext cx="6914774" cy="279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2101125" y="3933500"/>
            <a:ext cx="6554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Esempio di codice standalone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/>
        </p:nvSpPr>
        <p:spPr>
          <a:xfrm>
            <a:off x="2266790" y="269703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5950" y="1027250"/>
            <a:ext cx="7382724" cy="282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1675" y="4024400"/>
            <a:ext cx="7382726" cy="729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/>
        </p:nvSpPr>
        <p:spPr>
          <a:xfrm>
            <a:off x="2266790" y="269703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825" y="1174898"/>
            <a:ext cx="8839204" cy="1156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7625" y="2434773"/>
            <a:ext cx="7271611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9700" y="3094426"/>
            <a:ext cx="5312773" cy="192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/>
        </p:nvSpPr>
        <p:spPr>
          <a:xfrm>
            <a:off x="2266790" y="269703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551325" y="2129238"/>
            <a:ext cx="8654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Per far partire un web server senza scrivere codice potremmo procedere in questo modo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-&gt;Creiamo una cartella all'interno della quale creare elementi statici come pagine </a:t>
            </a:r>
            <a:r>
              <a:rPr b="1" lang="it-IT" sz="1800"/>
              <a:t>HTML o Css o file con estensione javascript;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-&gt; Python ci mette a disposizione un modulo già registrato nominato </a:t>
            </a:r>
            <a:r>
              <a:rPr b="1" lang="it-IT" sz="1800"/>
              <a:t>http.server</a:t>
            </a:r>
            <a:endParaRPr b="1" sz="1800"/>
          </a:p>
        </p:txBody>
      </p:sp>
      <p:sp>
        <p:nvSpPr>
          <p:cNvPr id="150" name="Google Shape;150;p7"/>
          <p:cNvSpPr txBox="1"/>
          <p:nvPr/>
        </p:nvSpPr>
        <p:spPr>
          <a:xfrm>
            <a:off x="1819350" y="919813"/>
            <a:ext cx="6517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web server senza codice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a291deda2_0_29"/>
          <p:cNvSpPr txBox="1"/>
          <p:nvPr/>
        </p:nvSpPr>
        <p:spPr>
          <a:xfrm>
            <a:off x="2266790" y="269703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157" name="Google Shape;157;g39a291deda2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9a291deda2_0_29"/>
          <p:cNvSpPr txBox="1"/>
          <p:nvPr/>
        </p:nvSpPr>
        <p:spPr>
          <a:xfrm>
            <a:off x="1819350" y="821363"/>
            <a:ext cx="6517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web server senza codice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g39a291deda2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9575" y="1498473"/>
            <a:ext cx="5265901" cy="28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9a291deda2_0_29"/>
          <p:cNvSpPr txBox="1"/>
          <p:nvPr/>
        </p:nvSpPr>
        <p:spPr>
          <a:xfrm>
            <a:off x="2036775" y="4466400"/>
            <a:ext cx="6271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Esempio di progetto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/>
        </p:nvSpPr>
        <p:spPr>
          <a:xfrm>
            <a:off x="2266790" y="269703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950" y="1027248"/>
            <a:ext cx="8839204" cy="67761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 txBox="1"/>
          <p:nvPr/>
        </p:nvSpPr>
        <p:spPr>
          <a:xfrm>
            <a:off x="1516200" y="2061625"/>
            <a:ext cx="6800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terminale si digita questo comando avviando il modulo http.server e collegandolo all’host 127.0.0.1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325" y="3814800"/>
            <a:ext cx="8839204" cy="1070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/>
        </p:nvSpPr>
        <p:spPr>
          <a:xfrm>
            <a:off x="1971740" y="459553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175" name="Google Shape;1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723" y="26724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750" y="1076474"/>
            <a:ext cx="5499700" cy="17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6700" y="3051425"/>
            <a:ext cx="7548640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61325" y="4076775"/>
            <a:ext cx="6319398" cy="126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/>
        </p:nvSpPr>
        <p:spPr>
          <a:xfrm>
            <a:off x="1819340" y="380453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825" y="1069798"/>
            <a:ext cx="8839202" cy="1159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825" y="2769418"/>
            <a:ext cx="8839200" cy="146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/>
          <p:nvPr/>
        </p:nvSpPr>
        <p:spPr>
          <a:xfrm>
            <a:off x="1590015" y="405190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192" name="Google Shape;1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500" y="972151"/>
            <a:ext cx="7760192" cy="119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550" y="2340452"/>
            <a:ext cx="4958300" cy="19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 txBox="1"/>
          <p:nvPr/>
        </p:nvSpPr>
        <p:spPr>
          <a:xfrm>
            <a:off x="5423275" y="2715300"/>
            <a:ext cx="4744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Struttura del progetto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 txBox="1"/>
          <p:nvPr/>
        </p:nvSpPr>
        <p:spPr>
          <a:xfrm>
            <a:off x="1982165" y="483790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202" name="Google Shape;2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023" y="279573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419986"/>
            <a:ext cx="8839204" cy="75098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2"/>
          <p:cNvSpPr txBox="1"/>
          <p:nvPr/>
        </p:nvSpPr>
        <p:spPr>
          <a:xfrm>
            <a:off x="34200" y="2706350"/>
            <a:ext cx="9075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Con la sintassi Python -m unittest discover -s tests -v ci permette di effettuare un'attività di discover di tutti gli unit test presenti nella cartella di test e di ottenere le informazioni di pass o fail a seconda delle istruzioni di asserzione formulate al termine di ogni metodo di test. Vedi estratto immagine a livello di output (cfr immagine precedente)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 txBox="1"/>
          <p:nvPr/>
        </p:nvSpPr>
        <p:spPr>
          <a:xfrm>
            <a:off x="1885340" y="31906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210" name="Google Shape;2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174" y="1106047"/>
            <a:ext cx="4459925" cy="28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3"/>
          <p:cNvSpPr txBox="1"/>
          <p:nvPr/>
        </p:nvSpPr>
        <p:spPr>
          <a:xfrm>
            <a:off x="5135325" y="1484800"/>
            <a:ext cx="4651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Codice sorgente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gli unit test da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1873040" y="31906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218" name="Google Shape;2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49" y="1133351"/>
            <a:ext cx="3352701" cy="2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4"/>
          <p:cNvSpPr txBox="1"/>
          <p:nvPr/>
        </p:nvSpPr>
        <p:spPr>
          <a:xfrm>
            <a:off x="3561775" y="1649350"/>
            <a:ext cx="5904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Definizione </a:t>
            </a:r>
            <a:r>
              <a:rPr b="1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sorgentetest_operazioni.py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 la definizione degli unit test per ogni metodo implementato all’interno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sorgente operazioni.py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d6459f57e_0_0"/>
          <p:cNvSpPr txBox="1"/>
          <p:nvPr/>
        </p:nvSpPr>
        <p:spPr>
          <a:xfrm>
            <a:off x="1873040" y="31906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227" name="Google Shape;227;g3ad6459f57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ad6459f57e_0_0"/>
          <p:cNvSpPr txBox="1"/>
          <p:nvPr/>
        </p:nvSpPr>
        <p:spPr>
          <a:xfrm>
            <a:off x="1787850" y="953763"/>
            <a:ext cx="665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Possibili sintassi del comando con python -m unittest ….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g3ad6459f57e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49386"/>
            <a:ext cx="8839204" cy="75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ad6459f57e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983423"/>
            <a:ext cx="8839202" cy="1541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9b731e4a8_0_31"/>
          <p:cNvSpPr txBox="1"/>
          <p:nvPr/>
        </p:nvSpPr>
        <p:spPr>
          <a:xfrm>
            <a:off x="2057615" y="41751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237" name="Google Shape;237;g3a9b731e4a8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898" y="21329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a9b731e4a8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725" y="2950275"/>
            <a:ext cx="8839200" cy="58152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a9b731e4a8_0_31"/>
          <p:cNvSpPr txBox="1"/>
          <p:nvPr/>
        </p:nvSpPr>
        <p:spPr>
          <a:xfrm>
            <a:off x="1511725" y="1478488"/>
            <a:ext cx="697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esiste uno specifico metodo per la misurare l’esecuzione temporale di un particolare script. Una strada percorribile potrebber essere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-m timeit “sum(range(1000))”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9b731e4a8_0_40"/>
          <p:cNvSpPr txBox="1"/>
          <p:nvPr/>
        </p:nvSpPr>
        <p:spPr>
          <a:xfrm>
            <a:off x="1873040" y="31906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246" name="Google Shape;246;g3a9b731e4a8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a9b731e4a8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375" y="1007624"/>
            <a:ext cx="6401477" cy="3725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a9b731e4a8_0_40"/>
          <p:cNvSpPr txBox="1"/>
          <p:nvPr/>
        </p:nvSpPr>
        <p:spPr>
          <a:xfrm>
            <a:off x="4849650" y="1784700"/>
            <a:ext cx="3888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l’immagine precedente questa è la logica sottostante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660da28e9_0_0"/>
          <p:cNvSpPr txBox="1"/>
          <p:nvPr/>
        </p:nvSpPr>
        <p:spPr>
          <a:xfrm>
            <a:off x="2057615" y="41751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255" name="Google Shape;255;g38660da28e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898" y="213298"/>
            <a:ext cx="1268025" cy="80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8660da28e9_0_0"/>
          <p:cNvSpPr txBox="1"/>
          <p:nvPr/>
        </p:nvSpPr>
        <p:spPr>
          <a:xfrm>
            <a:off x="1345375" y="1127975"/>
            <a:ext cx="7087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Domanda: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Quando potrebbe essere utilizzato timeit?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</a:rPr>
              <a:t>timeit viene usata </a:t>
            </a:r>
            <a:r>
              <a:rPr b="1" lang="it-IT" sz="1800">
                <a:solidFill>
                  <a:schemeClr val="dk1"/>
                </a:solidFill>
              </a:rPr>
              <a:t>quando vuoi misurare con precisione il tempo di esecuzione di piccoli pezzi di codice</a:t>
            </a:r>
            <a:r>
              <a:rPr lang="it-IT" sz="1800">
                <a:solidFill>
                  <a:schemeClr val="dk1"/>
                </a:solidFill>
              </a:rPr>
              <a:t>, in modo </a:t>
            </a:r>
            <a:r>
              <a:rPr b="1" lang="it-IT" sz="1800">
                <a:solidFill>
                  <a:schemeClr val="dk1"/>
                </a:solidFill>
              </a:rPr>
              <a:t>ripetibile, affidabile e statisticamente corretto</a:t>
            </a:r>
            <a:r>
              <a:rPr lang="it-IT" sz="1800">
                <a:solidFill>
                  <a:schemeClr val="dk1"/>
                </a:solidFill>
              </a:rPr>
              <a:t>, senza interferenze da parte dell’interprete o del sistema operativo.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8660da28e9_0_0"/>
          <p:cNvSpPr txBox="1"/>
          <p:nvPr/>
        </p:nvSpPr>
        <p:spPr>
          <a:xfrm>
            <a:off x="1286475" y="3358575"/>
            <a:ext cx="7087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altre parole non viene utilizzato in questi scenari: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Misurare l’esecuzione di un’intera applicazione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questo caso viene utilizzato il metodo </a:t>
            </a:r>
            <a:r>
              <a:rPr b="1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perf_counter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package time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di durata o debugging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perchè molto complessa l’attività di misura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a291deda2_1_0"/>
          <p:cNvSpPr txBox="1"/>
          <p:nvPr/>
        </p:nvSpPr>
        <p:spPr>
          <a:xfrm>
            <a:off x="1873040" y="31906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264" name="Google Shape;264;g39a291deda2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9a291deda2_1_0"/>
          <p:cNvSpPr txBox="1"/>
          <p:nvPr/>
        </p:nvSpPr>
        <p:spPr>
          <a:xfrm>
            <a:off x="1505325" y="972250"/>
            <a:ext cx="6492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Altri utilizzi di python -m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9a291deda2_1_0"/>
          <p:cNvSpPr txBox="1"/>
          <p:nvPr/>
        </p:nvSpPr>
        <p:spPr>
          <a:xfrm>
            <a:off x="270600" y="2067225"/>
            <a:ext cx="8873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Altri utilizzi di python -m potrebbero essere eseguire: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- un debug interattivo di uno script.py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- un espediente di conoscere il percorso dei pacchetti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  attivi per una versione di Python sulla workstation oppure all'interno di un ambiente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  virtuale definito con il modulo venv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a291deda2_1_14"/>
          <p:cNvSpPr txBox="1"/>
          <p:nvPr/>
        </p:nvSpPr>
        <p:spPr>
          <a:xfrm>
            <a:off x="1873040" y="31906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273" name="Google Shape;273;g39a291deda2_1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9a291deda2_1_14"/>
          <p:cNvSpPr txBox="1"/>
          <p:nvPr/>
        </p:nvSpPr>
        <p:spPr>
          <a:xfrm>
            <a:off x="1505325" y="972250"/>
            <a:ext cx="6492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Altri utilizzi di python -m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9a291deda2_1_14"/>
          <p:cNvSpPr txBox="1"/>
          <p:nvPr/>
        </p:nvSpPr>
        <p:spPr>
          <a:xfrm>
            <a:off x="112200" y="1852500"/>
            <a:ext cx="90318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debug è un'attività essenziale nella programmazione perché permette di accertarsi che non siano presenti nell'attività di implementazione di un software on un componente in generale errori logici.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dice che in un software 'se non dovessero emergere errori di interprete o compilazione' funziona ma l'ok ci viene dato solo con una minuziosa attività di debug step by step in modo da accertarsi se l'algoritmo o i diversi algoritmi implementati in tutto il software sulla base dei dati di ingresso (o di input) corrisponda agli stessi dati attesi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a291deda2_1_23"/>
          <p:cNvSpPr txBox="1"/>
          <p:nvPr/>
        </p:nvSpPr>
        <p:spPr>
          <a:xfrm>
            <a:off x="1873040" y="31906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282" name="Google Shape;282;g39a291deda2_1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9a291deda2_1_23"/>
          <p:cNvSpPr txBox="1"/>
          <p:nvPr/>
        </p:nvSpPr>
        <p:spPr>
          <a:xfrm>
            <a:off x="1505325" y="972250"/>
            <a:ext cx="6492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Altri utilizzi di python -m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9a291deda2_1_23"/>
          <p:cNvSpPr txBox="1"/>
          <p:nvPr/>
        </p:nvSpPr>
        <p:spPr>
          <a:xfrm>
            <a:off x="257700" y="1851750"/>
            <a:ext cx="9614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In Python l'attività di debug la si può effettuare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- per mezzo dell'IDE utilizzato (pycharm, visual studio code o altri)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- da terminale invocando il modulo pdb con la sintassi</a:t>
            </a:r>
            <a:endParaRPr/>
          </a:p>
        </p:txBody>
      </p:sp>
      <p:sp>
        <p:nvSpPr>
          <p:cNvPr id="285" name="Google Shape;285;g39a291deda2_1_23"/>
          <p:cNvSpPr txBox="1"/>
          <p:nvPr/>
        </p:nvSpPr>
        <p:spPr>
          <a:xfrm>
            <a:off x="1272900" y="3079013"/>
            <a:ext cx="758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/>
              <a:t>python -m pdb &lt;script.py&gt; </a:t>
            </a:r>
            <a:r>
              <a:rPr lang="it-IT"/>
              <a:t>- Da terminale l'indicazione dello script al quale bisogna applicare l'attività di debug va indicata senza parentesi angolari</a:t>
            </a:r>
            <a:endParaRPr/>
          </a:p>
        </p:txBody>
      </p:sp>
      <p:sp>
        <p:nvSpPr>
          <p:cNvPr id="286" name="Google Shape;286;g39a291deda2_1_23"/>
          <p:cNvSpPr txBox="1"/>
          <p:nvPr/>
        </p:nvSpPr>
        <p:spPr>
          <a:xfrm>
            <a:off x="179775" y="3875175"/>
            <a:ext cx="914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Il comando sempre da terminale </a:t>
            </a:r>
            <a:r>
              <a:rPr b="1" lang="it-IT" sz="1800"/>
              <a:t>python -m site</a:t>
            </a:r>
            <a:r>
              <a:rPr lang="it-IT" sz="1800"/>
              <a:t> permette di rispondere alla domanda 'Dove si trovano i pacchetti che noi poi referenziamo nei nostri script con la parola import?'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a291deda2_1_39"/>
          <p:cNvSpPr txBox="1"/>
          <p:nvPr/>
        </p:nvSpPr>
        <p:spPr>
          <a:xfrm>
            <a:off x="1873040" y="31906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293" name="Google Shape;293;g39a291deda2_1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39a291deda2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902" y="1125952"/>
            <a:ext cx="3131949" cy="211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9a291deda2_1_39"/>
          <p:cNvSpPr txBox="1"/>
          <p:nvPr/>
        </p:nvSpPr>
        <p:spPr>
          <a:xfrm>
            <a:off x="3925300" y="1119300"/>
            <a:ext cx="5406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Alcuni comandi che permetterebbero di effettuare un debug interattivo: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/>
              <a:t>n (next)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/>
              <a:t>s (step)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/>
              <a:t>c (continue)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/>
              <a:t>l (list)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/>
              <a:t>p variabile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/>
              <a:t>q (quit)</a:t>
            </a:r>
            <a:endParaRPr/>
          </a:p>
        </p:txBody>
      </p:sp>
      <p:pic>
        <p:nvPicPr>
          <p:cNvPr id="296" name="Google Shape;296;g39a291deda2_1_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325" y="3752550"/>
            <a:ext cx="8839198" cy="1133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a291deda2_1_50"/>
          <p:cNvSpPr txBox="1"/>
          <p:nvPr/>
        </p:nvSpPr>
        <p:spPr>
          <a:xfrm>
            <a:off x="1873040" y="31906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303" name="Google Shape;303;g39a291deda2_1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9a291deda2_1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9025" y="885850"/>
            <a:ext cx="6471800" cy="33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9a291deda2_1_50"/>
          <p:cNvSpPr txBox="1"/>
          <p:nvPr/>
        </p:nvSpPr>
        <p:spPr>
          <a:xfrm>
            <a:off x="1579675" y="4423625"/>
            <a:ext cx="625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Da qui deriva il fatto che si lancia un debug interattivo da terminale e non con l'ausilio del debug come IDE utilizzato per gli sviluppi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d6459f57e_2_0"/>
          <p:cNvSpPr txBox="1"/>
          <p:nvPr/>
        </p:nvSpPr>
        <p:spPr>
          <a:xfrm>
            <a:off x="1873040" y="319065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312" name="Google Shape;312;g3ad6459f57e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23" y="114848"/>
            <a:ext cx="1268025" cy="80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ad6459f57e_2_0"/>
          <p:cNvSpPr txBox="1"/>
          <p:nvPr/>
        </p:nvSpPr>
        <p:spPr>
          <a:xfrm>
            <a:off x="963900" y="1041825"/>
            <a:ext cx="793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Discovery dei pacchetti attivi in un ambiente virtuale creato con modulo venv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g3ad6459f57e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700" y="1754375"/>
            <a:ext cx="8839198" cy="2464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g3aa6201ac6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00" y="164700"/>
            <a:ext cx="8839201" cy="90781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aa6201ac61_0_0"/>
          <p:cNvSpPr txBox="1"/>
          <p:nvPr/>
        </p:nvSpPr>
        <p:spPr>
          <a:xfrm>
            <a:off x="767025" y="1509425"/>
            <a:ext cx="708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aa6201ac61_0_0"/>
          <p:cNvSpPr txBox="1"/>
          <p:nvPr/>
        </p:nvSpPr>
        <p:spPr>
          <a:xfrm>
            <a:off x="1591450" y="1164875"/>
            <a:ext cx="7087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generalizzato: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due liste si dovrà implementare i casi di matching tra due insiemi: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Parte 1 - Calcolo della distanza minima totale tra due liste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Parte 2 - La similarità pesata tra due liste (accoppiamento di valori uguali contando tutte le combinazioni oppure prodotto delle frequenze)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g3aa6201ac6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500" y="3536025"/>
            <a:ext cx="565785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g3aa6201ac61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00" y="164700"/>
            <a:ext cx="8839201" cy="90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3aa6201ac61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5413" y="1475735"/>
            <a:ext cx="6079164" cy="376619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aa6201ac61_0_6"/>
          <p:cNvSpPr txBox="1"/>
          <p:nvPr/>
        </p:nvSpPr>
        <p:spPr>
          <a:xfrm>
            <a:off x="2502025" y="798625"/>
            <a:ext cx="586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Parte 1 - Step algoritmici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g3ac9e9082d3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00" y="164700"/>
            <a:ext cx="8839201" cy="90781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ac9e9082d3_0_11"/>
          <p:cNvSpPr txBox="1"/>
          <p:nvPr/>
        </p:nvSpPr>
        <p:spPr>
          <a:xfrm>
            <a:off x="2046725" y="904525"/>
            <a:ext cx="586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Parte 2 - Step algoritmici - La similarità pesata tra due liste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ac9e9082d3_0_11"/>
          <p:cNvSpPr txBox="1"/>
          <p:nvPr/>
        </p:nvSpPr>
        <p:spPr>
          <a:xfrm>
            <a:off x="1858050" y="1747800"/>
            <a:ext cx="682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# Parte 2: somma pesata per coincidenze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    freq_right = Counter(right)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    total_similarity = sum(x * freq_right.get(x, 0) for x in left)</a:t>
            </a:r>
            <a:endParaRPr/>
          </a:p>
        </p:txBody>
      </p:sp>
      <p:sp>
        <p:nvSpPr>
          <p:cNvPr id="340" name="Google Shape;340;g3ac9e9082d3_0_11"/>
          <p:cNvSpPr txBox="1"/>
          <p:nvPr/>
        </p:nvSpPr>
        <p:spPr>
          <a:xfrm>
            <a:off x="1724700" y="2960675"/>
            <a:ext cx="7087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utilizza la funzione Counter del package Collections per ottenere la frequenza di quante volte è ripetuto ogni singolo valore ordinato della lista di destra. Poi si sommano ogni valore della lista di sinistra per la frequenza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ac9e796f7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00" y="164700"/>
            <a:ext cx="8839201" cy="90781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ac9e796f79_0_0"/>
          <p:cNvSpPr txBox="1"/>
          <p:nvPr/>
        </p:nvSpPr>
        <p:spPr>
          <a:xfrm>
            <a:off x="1148450" y="1214100"/>
            <a:ext cx="7087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procede a realizzare un servizio che calcola la distanza totale tra due liste in ingresso e per questo nell’ambiente virtuale creato con il modulo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-m venv myService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procede successivamente a installare una volta attivato l’ambiente virtuale attivato: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 install fastapi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successivamente alla fine </a:t>
            </a:r>
            <a:r>
              <a:rPr b="1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 install uvicorn[standard]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g3ad6459f57e_1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00" y="164700"/>
            <a:ext cx="8839201" cy="90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g3ad6459f57e_1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8125" y="1163385"/>
            <a:ext cx="5781675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g3aa6201ac61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00" y="164700"/>
            <a:ext cx="8839201" cy="90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3aa6201ac61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600" y="3936312"/>
            <a:ext cx="9143999" cy="685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g3aa6201ac61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3375" y="954185"/>
            <a:ext cx="3750579" cy="271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g3ac9e796f79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00" y="164700"/>
            <a:ext cx="8839201" cy="90781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g3ac9e796f79_0_6"/>
          <p:cNvSpPr txBox="1"/>
          <p:nvPr/>
        </p:nvSpPr>
        <p:spPr>
          <a:xfrm>
            <a:off x="520925" y="1275600"/>
            <a:ext cx="7087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terminale abbiamo: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g3ac9e796f79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400" y="1928450"/>
            <a:ext cx="8839197" cy="113879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ac9e796f79_0_6"/>
          <p:cNvSpPr txBox="1"/>
          <p:nvPr/>
        </p:nvSpPr>
        <p:spPr>
          <a:xfrm>
            <a:off x="520925" y="3404400"/>
            <a:ext cx="8623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uvicorn permette di gestire un server ASGI </a:t>
            </a:r>
            <a:r>
              <a:rPr b="1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(Asynchronous Server Gateway Interface). In altre parole permette di supportare richieste asincrone - WebSocket - long-running connections - servizi altamente concorrenziali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g3ad6459f57e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00" y="164700"/>
            <a:ext cx="8839201" cy="90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3ad6459f57e_1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8875" y="1072510"/>
            <a:ext cx="5703397" cy="376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g3ad6459f57e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00" y="164700"/>
            <a:ext cx="8839201" cy="90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ad6459f57e_1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925" y="1175685"/>
            <a:ext cx="8839199" cy="293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3ad6459f57e_1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213" y="1649352"/>
            <a:ext cx="8637565" cy="3369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g3ad6459f57e_1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00" y="164700"/>
            <a:ext cx="8839201" cy="90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ad6459f57e_1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675" y="1335685"/>
            <a:ext cx="8839202" cy="394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3ad6459f57e_1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675" y="1931414"/>
            <a:ext cx="8839198" cy="990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3ad6459f57e_1_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675" y="3005681"/>
            <a:ext cx="4870142" cy="1916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g3aa6201ac61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00" y="164700"/>
            <a:ext cx="8839201" cy="90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3aa6201ac61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450" y="1151077"/>
            <a:ext cx="3494000" cy="305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aa6201ac61_0_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1050" y="1371472"/>
            <a:ext cx="5045151" cy="183649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aa6201ac61_0_26"/>
          <p:cNvSpPr txBox="1"/>
          <p:nvPr/>
        </p:nvSpPr>
        <p:spPr>
          <a:xfrm>
            <a:off x="4343675" y="3506925"/>
            <a:ext cx="4434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La prima colonna diventa left = [3, 4, 2, 1, 3, 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La seconda colonna diventa right = [4, 3, 5, 3, 9, 3]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472" y="218883"/>
            <a:ext cx="1424500" cy="90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5"/>
          <p:cNvSpPr txBox="1"/>
          <p:nvPr/>
        </p:nvSpPr>
        <p:spPr>
          <a:xfrm>
            <a:off x="2344965" y="552703"/>
            <a:ext cx="6567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4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04 Dicembre 2025 – Segreti sui moduli Python</a:t>
            </a:r>
            <a:endParaRPr/>
          </a:p>
        </p:txBody>
      </p:sp>
      <p:pic>
        <p:nvPicPr>
          <p:cNvPr id="411" name="Google Shape;41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175" y="1354183"/>
            <a:ext cx="8403741" cy="3710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Francesco Spalluzzi</dc:creator>
</cp:coreProperties>
</file>
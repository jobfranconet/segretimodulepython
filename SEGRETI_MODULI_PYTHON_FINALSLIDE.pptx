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039">
          <p15:clr>
            <a:srgbClr val="A4A3A4"/>
          </p15:clr>
        </p15:guide>
        <p15:guide id="2" pos="3485">
          <p15:clr>
            <a:srgbClr val="A4A3A4"/>
          </p15:clr>
        </p15:guide>
      </p15:sldGuideLst>
    </p:ext>
    <p:ext uri="GoogleSlidesCustomDataVersion2">
      <go:slidesCustomData xmlns:go="http://customooxmlschemas.google.com/" r:id="rId40" roundtripDataSignature="AMtx7mgQucvfgzgh8zg7dLE8ACzTvMHw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039" orient="horz"/>
        <p:guide pos="3485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it-IT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9a291deda2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9a291deda2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g39a291deda2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7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a291deda2_0_2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a291deda2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9a291deda2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d6459f57e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d6459f57e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ad6459f57e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9b731e4a8_0_3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9b731e4a8_0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g3a9b731e4a8_0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a9b731e4a8_0_4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a9b731e4a8_0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g3a9b731e4a8_0_4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8660da28e9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8660da28e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8660da28e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9a291deda2_1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9a291deda2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9a291deda2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9a291deda2_1_1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9a291deda2_1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g39a291deda2_1_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9a291deda2_1_2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9a291deda2_1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g39a291deda2_1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9a291deda2_1_3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9a291deda2_1_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g39a291deda2_1_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a291deda2_1_5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9a291deda2_1_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g39a291deda2_1_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aa6201ac61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aa6201ac61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g3aa6201ac61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aa6201ac61_0_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aa6201ac61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g3aa6201ac61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ac9e9082d3_0_1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ac9e9082d3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g3ac9e9082d3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c9e796f79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ac9e796f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g3ac9e796f7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aa6201ac61_0_1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aa6201ac61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g3aa6201ac61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ac9e796f79_0_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ac9e796f79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ac9e796f79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aa6201ac61_0_1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aa6201ac61_0_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g3aa6201ac61_0_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aa6201ac61_0_2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aa6201ac61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g3aa6201ac61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7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/>
          <p:nvPr>
            <p:ph type="ctrTitle"/>
          </p:nvPr>
        </p:nvSpPr>
        <p:spPr>
          <a:xfrm>
            <a:off x="829876" y="1024729"/>
            <a:ext cx="9405300" cy="70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" type="subTitle"/>
          </p:nvPr>
        </p:nvSpPr>
        <p:spPr>
          <a:xfrm>
            <a:off x="1659751" y="1869253"/>
            <a:ext cx="7745400" cy="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8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" type="body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9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9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/>
          <p:nvPr>
            <p:ph type="title"/>
          </p:nvPr>
        </p:nvSpPr>
        <p:spPr>
          <a:xfrm>
            <a:off x="874059" y="2119708"/>
            <a:ext cx="9405300" cy="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0"/>
          <p:cNvSpPr txBox="1"/>
          <p:nvPr>
            <p:ph idx="1" type="body"/>
          </p:nvPr>
        </p:nvSpPr>
        <p:spPr>
          <a:xfrm>
            <a:off x="874059" y="1398122"/>
            <a:ext cx="9405300" cy="721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0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0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" type="body"/>
          </p:nvPr>
        </p:nvSpPr>
        <p:spPr>
          <a:xfrm>
            <a:off x="553250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1"/>
          <p:cNvSpPr txBox="1"/>
          <p:nvPr>
            <p:ph idx="2" type="body"/>
          </p:nvPr>
        </p:nvSpPr>
        <p:spPr>
          <a:xfrm>
            <a:off x="5624713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1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1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2"/>
          <p:cNvSpPr txBox="1"/>
          <p:nvPr>
            <p:ph idx="1" type="body"/>
          </p:nvPr>
        </p:nvSpPr>
        <p:spPr>
          <a:xfrm>
            <a:off x="553250" y="738386"/>
            <a:ext cx="4889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2"/>
          <p:cNvSpPr txBox="1"/>
          <p:nvPr>
            <p:ph idx="2" type="body"/>
          </p:nvPr>
        </p:nvSpPr>
        <p:spPr>
          <a:xfrm>
            <a:off x="553250" y="1046110"/>
            <a:ext cx="4889100" cy="19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2"/>
          <p:cNvSpPr txBox="1"/>
          <p:nvPr>
            <p:ph idx="3" type="body"/>
          </p:nvPr>
        </p:nvSpPr>
        <p:spPr>
          <a:xfrm>
            <a:off x="5620871" y="738386"/>
            <a:ext cx="4890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2"/>
          <p:cNvSpPr txBox="1"/>
          <p:nvPr>
            <p:ph idx="4" type="body"/>
          </p:nvPr>
        </p:nvSpPr>
        <p:spPr>
          <a:xfrm>
            <a:off x="5620871" y="1046110"/>
            <a:ext cx="4890900" cy="19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22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3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/>
          <p:nvPr>
            <p:ph type="title"/>
          </p:nvPr>
        </p:nvSpPr>
        <p:spPr>
          <a:xfrm>
            <a:off x="553250" y="131336"/>
            <a:ext cx="36402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" type="body"/>
          </p:nvPr>
        </p:nvSpPr>
        <p:spPr>
          <a:xfrm>
            <a:off x="4326111" y="131336"/>
            <a:ext cx="6185700" cy="28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4"/>
          <p:cNvSpPr txBox="1"/>
          <p:nvPr>
            <p:ph idx="2" type="body"/>
          </p:nvPr>
        </p:nvSpPr>
        <p:spPr>
          <a:xfrm>
            <a:off x="553250" y="690280"/>
            <a:ext cx="3640200" cy="22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4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4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/>
          <p:nvPr>
            <p:ph type="title"/>
          </p:nvPr>
        </p:nvSpPr>
        <p:spPr>
          <a:xfrm>
            <a:off x="2168819" y="2309077"/>
            <a:ext cx="6639000" cy="2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/>
          <p:nvPr>
            <p:ph idx="2" type="pic"/>
          </p:nvPr>
        </p:nvSpPr>
        <p:spPr>
          <a:xfrm>
            <a:off x="2168819" y="294743"/>
            <a:ext cx="6639000" cy="1979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/>
          <p:nvPr>
            <p:ph idx="1" type="body"/>
          </p:nvPr>
        </p:nvSpPr>
        <p:spPr>
          <a:xfrm>
            <a:off x="2168819" y="2581677"/>
            <a:ext cx="6639000" cy="3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5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6"/>
          <p:cNvSpPr txBox="1"/>
          <p:nvPr>
            <p:ph idx="1" type="body"/>
          </p:nvPr>
        </p:nvSpPr>
        <p:spPr>
          <a:xfrm rot="5400000">
            <a:off x="4443958" y="-3121008"/>
            <a:ext cx="2177100" cy="99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6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/>
          <p:nvPr>
            <p:ph type="title"/>
          </p:nvPr>
        </p:nvSpPr>
        <p:spPr>
          <a:xfrm rot="5400000">
            <a:off x="7859608" y="294550"/>
            <a:ext cx="2814600" cy="24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7"/>
          <p:cNvSpPr txBox="1"/>
          <p:nvPr>
            <p:ph idx="1" type="body"/>
          </p:nvPr>
        </p:nvSpPr>
        <p:spPr>
          <a:xfrm rot="5400000">
            <a:off x="2788114" y="-2102900"/>
            <a:ext cx="2814600" cy="72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7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7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hyperlink" Target="http://jobformazione.i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1.png"/><Relationship Id="rId6" Type="http://schemas.openxmlformats.org/officeDocument/2006/relationships/image" Target="../media/image2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image" Target="../media/image2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Relationship Id="rId5" Type="http://schemas.openxmlformats.org/officeDocument/2006/relationships/image" Target="../media/image3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1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2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19.png"/><Relationship Id="rId5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2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Relationship Id="rId4" Type="http://schemas.openxmlformats.org/officeDocument/2006/relationships/image" Target="../media/image2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Relationship Id="rId4" Type="http://schemas.openxmlformats.org/officeDocument/2006/relationships/image" Target="../media/image35.png"/><Relationship Id="rId5" Type="http://schemas.openxmlformats.org/officeDocument/2006/relationships/image" Target="../media/image1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Relationship Id="rId4" Type="http://schemas.openxmlformats.org/officeDocument/2006/relationships/image" Target="../media/image20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3.png"/><Relationship Id="rId4" Type="http://schemas.openxmlformats.org/officeDocument/2006/relationships/image" Target="../media/image39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3.png"/><Relationship Id="rId4" Type="http://schemas.openxmlformats.org/officeDocument/2006/relationships/image" Target="../media/image2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3.png"/><Relationship Id="rId4" Type="http://schemas.openxmlformats.org/officeDocument/2006/relationships/image" Target="../media/image27.png"/><Relationship Id="rId5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3.png"/><Relationship Id="rId4" Type="http://schemas.openxmlformats.org/officeDocument/2006/relationships/image" Target="../media/image36.png"/><Relationship Id="rId5" Type="http://schemas.openxmlformats.org/officeDocument/2006/relationships/image" Target="../media/image3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7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9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g39a291deda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0677" y="434825"/>
            <a:ext cx="2568903" cy="16394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g39a291deda2_0_0"/>
          <p:cNvSpPr txBox="1"/>
          <p:nvPr/>
        </p:nvSpPr>
        <p:spPr>
          <a:xfrm>
            <a:off x="260825" y="3340975"/>
            <a:ext cx="9513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2400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 sz="2400"/>
          </a:p>
        </p:txBody>
      </p:sp>
      <p:sp>
        <p:nvSpPr>
          <p:cNvPr id="91" name="Google Shape;91;g39a291deda2_0_0"/>
          <p:cNvSpPr txBox="1"/>
          <p:nvPr/>
        </p:nvSpPr>
        <p:spPr>
          <a:xfrm>
            <a:off x="1473725" y="2245913"/>
            <a:ext cx="7087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 SPALLUZZI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9a291deda2_0_0"/>
          <p:cNvSpPr txBox="1"/>
          <p:nvPr/>
        </p:nvSpPr>
        <p:spPr>
          <a:xfrm>
            <a:off x="1714525" y="4165150"/>
            <a:ext cx="6283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francescospalluzzi@gmail.com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"/>
          <p:cNvSpPr txBox="1"/>
          <p:nvPr/>
        </p:nvSpPr>
        <p:spPr>
          <a:xfrm>
            <a:off x="1252497" y="772991"/>
            <a:ext cx="71922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b="1" i="0" lang="it-IT" sz="3200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Segreti sui moduli Python</a:t>
            </a:r>
            <a:endParaRPr b="1" i="0" sz="3200" u="none" cap="none" strike="noStrike">
              <a:solidFill>
                <a:srgbClr val="0F47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1680890" y="27700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2004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551326" y="1256099"/>
            <a:ext cx="81477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Cos’è un modulo standalone in Python</a:t>
            </a:r>
            <a:endParaRPr sz="1200"/>
          </a:p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Possibilità di creare più ambienti associati a più versioni di Python sulla workstation</a:t>
            </a:r>
            <a:endParaRPr sz="1200"/>
          </a:p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possibili utilizzi di python –m in diversi scenari: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Contesto web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Avviare il debug interattivo di uno script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il tempo di esecuzione di uno script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automatico degli unit test in python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Mostrare nel terminale i percorsi attivi dei pacchetti</a:t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 txBox="1"/>
          <p:nvPr/>
        </p:nvSpPr>
        <p:spPr>
          <a:xfrm>
            <a:off x="3146525" y="1592402"/>
            <a:ext cx="3678600" cy="5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58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0">
                <a:solidFill>
                  <a:srgbClr val="0F4761"/>
                </a:solidFill>
              </a:rPr>
              <a:t>About me</a:t>
            </a:r>
            <a:endParaRPr sz="6000"/>
          </a:p>
        </p:txBody>
      </p:sp>
      <p:sp>
        <p:nvSpPr>
          <p:cNvPr id="106" name="Google Shape;106;p2"/>
          <p:cNvSpPr txBox="1"/>
          <p:nvPr/>
        </p:nvSpPr>
        <p:spPr>
          <a:xfrm>
            <a:off x="2037040" y="956278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07" name="Google Shape;10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173" y="7300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9425" y="2634926"/>
            <a:ext cx="1457775" cy="15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2396700" y="2565575"/>
            <a:ext cx="67473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/>
              <a:t>DotNet Developer</a:t>
            </a:r>
            <a:r>
              <a:rPr lang="it-IT"/>
              <a:t> con esperienza pluriennale nello sviluppo di soluzioni software utilizzando tecnologie Microsoft, con focus su .NET Framework, .NET Core, e strumenti moderni come Blazor e Azure. Forte capacità di lavorare in team medio-grandi e competenze consolidate nella progettazione, sviluppo e ottimizzazione di applicazioni web e servizi backend e Training in .NET E Python per </a:t>
            </a:r>
            <a:r>
              <a:rPr lang="it-IT" u="sng">
                <a:solidFill>
                  <a:schemeClr val="hlink"/>
                </a:solidFill>
                <a:hlinkClick r:id="rId5"/>
              </a:rPr>
              <a:t>Jobformazione.it</a:t>
            </a:r>
            <a:r>
              <a:rPr lang="it-IT"/>
              <a:t> - </a:t>
            </a:r>
            <a:r>
              <a:rPr b="1" lang="it-IT"/>
              <a:t>Coach per Django girls</a:t>
            </a:r>
            <a:r>
              <a:rPr lang="it-IT"/>
              <a:t> al DevFest Pescara 2025 - Talk di un anno fa su </a:t>
            </a:r>
            <a:r>
              <a:rPr b="1" lang="it-IT"/>
              <a:t>ORM SqlAlchemy </a:t>
            </a:r>
            <a:r>
              <a:rPr lang="it-IT"/>
              <a:t>per Python Pescara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2" y="114848"/>
            <a:ext cx="1356125" cy="86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/>
        </p:nvSpPr>
        <p:spPr>
          <a:xfrm>
            <a:off x="1907440" y="376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381425" y="1242800"/>
            <a:ext cx="89991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in Python è semplicemente un file .py che contiene codice Python: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funzioni e/o procedure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definizioni di classi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variabili o anche codice eseguibile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Quando diciamo "</a:t>
            </a:r>
            <a:r>
              <a:rPr b="1" lang="it-IT" sz="1800"/>
              <a:t>modulo standalone</a:t>
            </a:r>
            <a:r>
              <a:rPr lang="it-IT" sz="1800"/>
              <a:t>" di solito intendiamo: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che può funzionare da solo, cioè che può essere eseguito direttamente con </a:t>
            </a:r>
            <a:r>
              <a:rPr b="1" lang="it-IT" sz="1800"/>
              <a:t>python nomefile.py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m</a:t>
            </a:r>
            <a:r>
              <a:rPr lang="it-IT" sz="1800"/>
              <a:t>a allo stesso tempo può essere </a:t>
            </a:r>
            <a:r>
              <a:rPr b="1" lang="it-IT" sz="1800"/>
              <a:t>importato da altri script </a:t>
            </a:r>
            <a:r>
              <a:rPr lang="it-IT" sz="1800"/>
              <a:t>senza problemi</a:t>
            </a:r>
            <a:endParaRPr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 txBox="1"/>
          <p:nvPr/>
        </p:nvSpPr>
        <p:spPr>
          <a:xfrm>
            <a:off x="2094515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22" name="Google Shape;12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3548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9350" y="990325"/>
            <a:ext cx="6914774" cy="2797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"/>
          <p:cNvSpPr txBox="1"/>
          <p:nvPr/>
        </p:nvSpPr>
        <p:spPr>
          <a:xfrm>
            <a:off x="2101125" y="3933500"/>
            <a:ext cx="6554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codice standalone</a:t>
            </a:r>
            <a:endParaRPr b="1"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5950" y="1027250"/>
            <a:ext cx="7382724" cy="282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51675" y="4024400"/>
            <a:ext cx="7382726" cy="7299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8" name="Google Shape;13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3825" y="1174898"/>
            <a:ext cx="8839204" cy="1156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77625" y="2434773"/>
            <a:ext cx="7271611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700" y="3094426"/>
            <a:ext cx="5312773" cy="1927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47" name="Google Shape;14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7"/>
          <p:cNvSpPr txBox="1"/>
          <p:nvPr/>
        </p:nvSpPr>
        <p:spPr>
          <a:xfrm>
            <a:off x="551325" y="2129238"/>
            <a:ext cx="8654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Per far partire un web server senza scrivere codice potremmo procedere in questo modo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-&gt;Creiamo una cartella all'interno della quale creare elementi statici come pagine </a:t>
            </a:r>
            <a:r>
              <a:rPr b="1" lang="it-IT" sz="1800"/>
              <a:t>HTML o Css o file con estensione javascript;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 Python ci mette a disposizione un modulo già registrato nominato </a:t>
            </a:r>
            <a:r>
              <a:rPr b="1" lang="it-IT" sz="1800"/>
              <a:t>http.server</a:t>
            </a:r>
            <a:endParaRPr b="1" sz="1800"/>
          </a:p>
        </p:txBody>
      </p:sp>
      <p:sp>
        <p:nvSpPr>
          <p:cNvPr id="149" name="Google Shape;149;p7"/>
          <p:cNvSpPr txBox="1"/>
          <p:nvPr/>
        </p:nvSpPr>
        <p:spPr>
          <a:xfrm>
            <a:off x="1819350" y="91981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9a291deda2_0_29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56" name="Google Shape;156;g39a291deda2_0_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g39a291deda2_0_29"/>
          <p:cNvSpPr txBox="1"/>
          <p:nvPr/>
        </p:nvSpPr>
        <p:spPr>
          <a:xfrm>
            <a:off x="1819350" y="82136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g39a291deda2_0_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9575" y="1498473"/>
            <a:ext cx="5265901" cy="280167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g39a291deda2_0_29"/>
          <p:cNvSpPr txBox="1"/>
          <p:nvPr/>
        </p:nvSpPr>
        <p:spPr>
          <a:xfrm>
            <a:off x="2036775" y="4466400"/>
            <a:ext cx="6271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65" name="Google Shape;16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50" y="1027248"/>
            <a:ext cx="8839204" cy="67761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8"/>
          <p:cNvSpPr txBox="1"/>
          <p:nvPr/>
        </p:nvSpPr>
        <p:spPr>
          <a:xfrm>
            <a:off x="1516200" y="2061625"/>
            <a:ext cx="68007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si digita questo comando avviando il modulo http.server e collegandolo all’host 127.0.0.1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814800"/>
            <a:ext cx="8839204" cy="1070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"/>
          <p:cNvSpPr txBox="1"/>
          <p:nvPr/>
        </p:nvSpPr>
        <p:spPr>
          <a:xfrm>
            <a:off x="1971740" y="4595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74" name="Google Shape;17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3723" y="2672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50" y="1076474"/>
            <a:ext cx="5499700" cy="1758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6700" y="3051425"/>
            <a:ext cx="7548640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61325" y="4076775"/>
            <a:ext cx="6319398" cy="126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"/>
          <p:cNvSpPr txBox="1"/>
          <p:nvPr/>
        </p:nvSpPr>
        <p:spPr>
          <a:xfrm>
            <a:off x="1819340" y="3804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83" name="Google Shape;18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825" y="1069798"/>
            <a:ext cx="8839202" cy="1159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0825" y="2769418"/>
            <a:ext cx="8839200" cy="14604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1"/>
          <p:cNvSpPr txBox="1"/>
          <p:nvPr/>
        </p:nvSpPr>
        <p:spPr>
          <a:xfrm>
            <a:off x="1590015" y="4051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91" name="Google Shape;19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500" y="972151"/>
            <a:ext cx="7760192" cy="119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550" y="2340452"/>
            <a:ext cx="4958300" cy="196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1"/>
          <p:cNvSpPr txBox="1"/>
          <p:nvPr/>
        </p:nvSpPr>
        <p:spPr>
          <a:xfrm>
            <a:off x="5423275" y="2715300"/>
            <a:ext cx="4744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Struttura del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2"/>
          <p:cNvSpPr txBox="1"/>
          <p:nvPr/>
        </p:nvSpPr>
        <p:spPr>
          <a:xfrm>
            <a:off x="1982165" y="4837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1" name="Google Shape;20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023" y="279573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800" y="1419986"/>
            <a:ext cx="8839204" cy="750987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2"/>
          <p:cNvSpPr txBox="1"/>
          <p:nvPr/>
        </p:nvSpPr>
        <p:spPr>
          <a:xfrm>
            <a:off x="34200" y="2706350"/>
            <a:ext cx="9075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Con la sintassi Python -m unittest discover -s tests -v ci permette di effettuare un'attività di discover di tutti gli unit test presenti nella cartella di test e di ottenere le informazioni di pass o fail a seconda delle istruzioni di asserzione formulate al termine di ogni metodo di test. Vedi estratto immagine a livello di output (cfr immagine precedente)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3"/>
          <p:cNvSpPr txBox="1"/>
          <p:nvPr/>
        </p:nvSpPr>
        <p:spPr>
          <a:xfrm>
            <a:off x="18853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9" name="Google Shape;20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174" y="1106047"/>
            <a:ext cx="4459925" cy="28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3"/>
          <p:cNvSpPr txBox="1"/>
          <p:nvPr/>
        </p:nvSpPr>
        <p:spPr>
          <a:xfrm>
            <a:off x="5135325" y="1484800"/>
            <a:ext cx="46512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Codice sorgente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gli unit test da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7" name="Google Shape;21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749" y="1133351"/>
            <a:ext cx="3352701" cy="287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4"/>
          <p:cNvSpPr txBox="1"/>
          <p:nvPr/>
        </p:nvSpPr>
        <p:spPr>
          <a:xfrm>
            <a:off x="3561775" y="1649350"/>
            <a:ext cx="5904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Definizione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sorgentetest_operazioni.py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per la definizione degli unit test per ogni metodo implementato all’interno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sorgente operazioni.py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ad6459f57e_0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26" name="Google Shape;226;g3ad6459f57e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g3ad6459f57e_0_0"/>
          <p:cNvSpPr txBox="1"/>
          <p:nvPr/>
        </p:nvSpPr>
        <p:spPr>
          <a:xfrm>
            <a:off x="1787850" y="953763"/>
            <a:ext cx="665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 sintassi del comando con python -m unittest ….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8" name="Google Shape;228;g3ad6459f57e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4025" y="1649361"/>
            <a:ext cx="8839204" cy="7509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g3ad6459f57e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7725" y="2971123"/>
            <a:ext cx="8839202" cy="15411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a9b731e4a8_0_31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36" name="Google Shape;236;g3a9b731e4a8_0_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g3a9b731e4a8_0_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725" y="2950275"/>
            <a:ext cx="8839200" cy="58152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g3a9b731e4a8_0_31"/>
          <p:cNvSpPr txBox="1"/>
          <p:nvPr/>
        </p:nvSpPr>
        <p:spPr>
          <a:xfrm>
            <a:off x="1511725" y="1478488"/>
            <a:ext cx="6972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 esiste uno specifico metodo per la misurare l’esecuzione temporale di un particolare script. Una strada percorribile potrebber essere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timeit “sum(range(1000))”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a9b731e4a8_0_4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45" name="Google Shape;245;g3a9b731e4a8_0_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g3a9b731e4a8_0_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375" y="1007624"/>
            <a:ext cx="6401477" cy="3725699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3a9b731e4a8_0_40"/>
          <p:cNvSpPr txBox="1"/>
          <p:nvPr/>
        </p:nvSpPr>
        <p:spPr>
          <a:xfrm>
            <a:off x="4849650" y="1784700"/>
            <a:ext cx="3888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l’immagine precedente questa è la logica sottostante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8660da28e9_0_0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54" name="Google Shape;254;g38660da28e9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g38660da28e9_0_0"/>
          <p:cNvSpPr txBox="1"/>
          <p:nvPr/>
        </p:nvSpPr>
        <p:spPr>
          <a:xfrm>
            <a:off x="1345375" y="11279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Domanda: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Quando potrebbe essere utilizzato timeit?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</a:rPr>
              <a:t>timeit viene usata </a:t>
            </a:r>
            <a:r>
              <a:rPr b="1" lang="it-IT" sz="1800">
                <a:solidFill>
                  <a:schemeClr val="dk1"/>
                </a:solidFill>
              </a:rPr>
              <a:t>quando vuoi misurare con precisione il tempo di esecuzione di piccoli pezzi di codice</a:t>
            </a:r>
            <a:r>
              <a:rPr lang="it-IT" sz="1800">
                <a:solidFill>
                  <a:schemeClr val="dk1"/>
                </a:solidFill>
              </a:rPr>
              <a:t>, in modo </a:t>
            </a:r>
            <a:r>
              <a:rPr b="1" lang="it-IT" sz="1800">
                <a:solidFill>
                  <a:schemeClr val="dk1"/>
                </a:solidFill>
              </a:rPr>
              <a:t>ripetibile, affidabile e statisticamente corretto</a:t>
            </a:r>
            <a:r>
              <a:rPr lang="it-IT" sz="1800">
                <a:solidFill>
                  <a:schemeClr val="dk1"/>
                </a:solidFill>
              </a:rPr>
              <a:t>, senza interferenze da parte dell’interprete o del sistema operativo.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g38660da28e9_0_0"/>
          <p:cNvSpPr txBox="1"/>
          <p:nvPr/>
        </p:nvSpPr>
        <p:spPr>
          <a:xfrm>
            <a:off x="1286475" y="33585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altre parole non viene utilizzato in questi scenari: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l’esecuzione di un’intera applicazione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questo caso viene utilizzato il metodo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perf_counter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package time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 di durata o debugging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perchè molto complessa l’attività di misura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9a291deda2_1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63" name="Google Shape;263;g39a291deda2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g39a291deda2_1_0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g39a291deda2_1_0"/>
          <p:cNvSpPr txBox="1"/>
          <p:nvPr/>
        </p:nvSpPr>
        <p:spPr>
          <a:xfrm>
            <a:off x="270600" y="2067225"/>
            <a:ext cx="8873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Altri utilizzi di python -m potrebbero essere eseguire: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debug interattivo di uno script.py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espediente di conoscere il percorso dei pacchetti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attivi per una versione di Python sulla workstation oppure all'interno di un ambiente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virtuale definito con il modulo venv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9a291deda2_1_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72" name="Google Shape;272;g39a291deda2_1_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g39a291deda2_1_14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g39a291deda2_1_14"/>
          <p:cNvSpPr txBox="1"/>
          <p:nvPr/>
        </p:nvSpPr>
        <p:spPr>
          <a:xfrm>
            <a:off x="385550" y="1803275"/>
            <a:ext cx="90318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 debug è un'attività essenziale nella programmazione perché permette di accertarsi che non siano presenti nell'attività di implementazione di un software on un componente in generale errori logici.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dice che in un software 'se non dovessero emergere errori di interprete o compilazione' funziona ma l'ok ci viene dato solo con una minuziosa attività di debug step by step in modo da accertarsi se l'algoritmo o i diversi algoritmi implementati in tutto il software sulla base dei dati di ingresso (o di input) corrisponda agli stessi dati attesi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9a291deda2_1_23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81" name="Google Shape;281;g39a291deda2_1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g39a291deda2_1_23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g39a291deda2_1_23"/>
          <p:cNvSpPr txBox="1"/>
          <p:nvPr/>
        </p:nvSpPr>
        <p:spPr>
          <a:xfrm>
            <a:off x="257700" y="1851750"/>
            <a:ext cx="96144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In Python l'attività di debug la si può effettuare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per mezzo dell'IDE utilizzato (pycharm, visual studio code o altri)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da terminale invocando il modulo pdb con la sintassi</a:t>
            </a:r>
            <a:endParaRPr/>
          </a:p>
        </p:txBody>
      </p:sp>
      <p:sp>
        <p:nvSpPr>
          <p:cNvPr id="284" name="Google Shape;284;g39a291deda2_1_23"/>
          <p:cNvSpPr txBox="1"/>
          <p:nvPr/>
        </p:nvSpPr>
        <p:spPr>
          <a:xfrm>
            <a:off x="1272900" y="3079013"/>
            <a:ext cx="7584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/>
              <a:t>python -m pdb &lt;script.py&gt; </a:t>
            </a:r>
            <a:r>
              <a:rPr lang="it-IT"/>
              <a:t>- Da terminale l'indicazione dello script al quale bisogna applicare l'attività di debug va indicata senza parentesi angolari</a:t>
            </a:r>
            <a:endParaRPr/>
          </a:p>
        </p:txBody>
      </p:sp>
      <p:sp>
        <p:nvSpPr>
          <p:cNvPr id="285" name="Google Shape;285;g39a291deda2_1_23"/>
          <p:cNvSpPr txBox="1"/>
          <p:nvPr/>
        </p:nvSpPr>
        <p:spPr>
          <a:xfrm>
            <a:off x="179775" y="3875175"/>
            <a:ext cx="914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Il comando sempre da terminale </a:t>
            </a:r>
            <a:r>
              <a:rPr b="1" lang="it-IT" sz="1800"/>
              <a:t>python -m site</a:t>
            </a:r>
            <a:r>
              <a:rPr lang="it-IT" sz="1800"/>
              <a:t> permette di rispondere alla domanda 'Dove si trovano i pacchetti che noi poi referenziamo nei nostri script con la parola import?'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a291deda2_1_39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92" name="Google Shape;292;g39a291deda2_1_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g39a291deda2_1_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902" y="1125952"/>
            <a:ext cx="3131949" cy="2110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g39a291deda2_1_39"/>
          <p:cNvSpPr txBox="1"/>
          <p:nvPr/>
        </p:nvSpPr>
        <p:spPr>
          <a:xfrm>
            <a:off x="3925300" y="1119300"/>
            <a:ext cx="54060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Alcuni comandi che permetterebbero di effettuare un debug interattivo: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n (next)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s (step)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c (continue)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l (list)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p variabile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q (quit)</a:t>
            </a:r>
            <a:endParaRPr/>
          </a:p>
        </p:txBody>
      </p:sp>
      <p:pic>
        <p:nvPicPr>
          <p:cNvPr id="295" name="Google Shape;295;g39a291deda2_1_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752550"/>
            <a:ext cx="8839198" cy="1133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9a291deda2_1_5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302" name="Google Shape;302;g39a291deda2_1_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g39a291deda2_1_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9025" y="885850"/>
            <a:ext cx="6471800" cy="33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g39a291deda2_1_50"/>
          <p:cNvSpPr txBox="1"/>
          <p:nvPr/>
        </p:nvSpPr>
        <p:spPr>
          <a:xfrm>
            <a:off x="1579675" y="4423625"/>
            <a:ext cx="6250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Da qui deriva il fatto che si lancia un debug interattivo da terminale e non con l'ausilio del debug come IDE utilizzato per gli sviluppi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g3aa6201ac6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aa6201ac61_0_0"/>
          <p:cNvSpPr txBox="1"/>
          <p:nvPr/>
        </p:nvSpPr>
        <p:spPr>
          <a:xfrm>
            <a:off x="767025" y="1509425"/>
            <a:ext cx="708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g3aa6201ac61_0_0"/>
          <p:cNvSpPr txBox="1"/>
          <p:nvPr/>
        </p:nvSpPr>
        <p:spPr>
          <a:xfrm>
            <a:off x="1591450" y="1164875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Algoritmo generalizzato: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 due liste si dovrà implementare i casi di matching tra due insiemi: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1 - Calcolo della distanza minima totale tra due liste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2 - La similarità pesata tra due liste (accoppiamento di valori uguali contando tutte le combinazioni oppure prodotto delle frequenze)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3" name="Google Shape;313;g3aa6201ac61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24500" y="3536025"/>
            <a:ext cx="565785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g3aa6201ac61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g3aa6201ac61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5413" y="1475735"/>
            <a:ext cx="6079164" cy="376619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g3aa6201ac61_0_6"/>
          <p:cNvSpPr txBox="1"/>
          <p:nvPr/>
        </p:nvSpPr>
        <p:spPr>
          <a:xfrm>
            <a:off x="2502025" y="798625"/>
            <a:ext cx="5865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1 - Step algoritmici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g3ac9e9082d3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ac9e9082d3_0_11"/>
          <p:cNvSpPr txBox="1"/>
          <p:nvPr/>
        </p:nvSpPr>
        <p:spPr>
          <a:xfrm>
            <a:off x="2046725" y="904525"/>
            <a:ext cx="5865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2 - Step algoritmici - La similarità pesata tra due liste 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ac9e9082d3_0_11"/>
          <p:cNvSpPr txBox="1"/>
          <p:nvPr/>
        </p:nvSpPr>
        <p:spPr>
          <a:xfrm>
            <a:off x="1858050" y="1747800"/>
            <a:ext cx="68211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# Parte 2: somma pesata per coincidenze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freq_right = Counter(right)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total_similarity = sum(x * freq_right.get(x, 0) for x in left)</a:t>
            </a:r>
            <a:endParaRPr/>
          </a:p>
        </p:txBody>
      </p:sp>
      <p:sp>
        <p:nvSpPr>
          <p:cNvPr id="330" name="Google Shape;330;g3ac9e9082d3_0_11"/>
          <p:cNvSpPr txBox="1"/>
          <p:nvPr/>
        </p:nvSpPr>
        <p:spPr>
          <a:xfrm>
            <a:off x="1724700" y="2960675"/>
            <a:ext cx="7087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utilizza la funzione Counter del package Collections per ottenere la frequenza di quante volte è ripetuto ogni singolo valore ordinato della lista di destra. Poi si sommano ogni valore della lista di sinistra per la frequenza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g3ac9e796f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g3ac9e796f79_0_0"/>
          <p:cNvSpPr txBox="1"/>
          <p:nvPr/>
        </p:nvSpPr>
        <p:spPr>
          <a:xfrm>
            <a:off x="1148450" y="1214100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a realizzare un servizio che calcola la distanza totale tra due liste in ingresso e per questo nell’ambiente virtuale creato con il modulo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venv myService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successivamente a installare una volta attivato l’ambiente virtuale attivato: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fastapi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 successivamente alla fine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uvicorn[standard]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aa6201ac61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g3aa6201ac61_0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600" y="3936312"/>
            <a:ext cx="9143999" cy="685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g3aa6201ac61_0_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73375" y="954185"/>
            <a:ext cx="3750579" cy="2718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g3ac9e796f79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g3ac9e796f79_0_6"/>
          <p:cNvSpPr txBox="1"/>
          <p:nvPr/>
        </p:nvSpPr>
        <p:spPr>
          <a:xfrm>
            <a:off x="520925" y="1275600"/>
            <a:ext cx="7087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abbiamo: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3" name="Google Shape;353;g3ac9e796f79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400" y="1928450"/>
            <a:ext cx="8839197" cy="1138792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g3ac9e796f79_0_6"/>
          <p:cNvSpPr txBox="1"/>
          <p:nvPr/>
        </p:nvSpPr>
        <p:spPr>
          <a:xfrm>
            <a:off x="520925" y="3404400"/>
            <a:ext cx="8623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uvicorn permette di gestire un server ASGI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(Asynchronous Server Gateway Interface). In altre parole permette di supportare richieste asincrone - WebSocket - long-running connections - servizi altamente concorrenziali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Google Shape;360;g3aa6201ac61_0_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g3aa6201ac61_0_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32925" y="949425"/>
            <a:ext cx="6615549" cy="305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g3aa6201ac61_0_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28813" y="4393000"/>
            <a:ext cx="7667625" cy="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g3aa6201ac61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g3aa6201ac61_0_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50" y="1151077"/>
            <a:ext cx="3494000" cy="305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g3aa6201ac61_0_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71050" y="1371472"/>
            <a:ext cx="5045151" cy="1836498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g3aa6201ac61_0_26"/>
          <p:cNvSpPr txBox="1"/>
          <p:nvPr/>
        </p:nvSpPr>
        <p:spPr>
          <a:xfrm>
            <a:off x="4343675" y="3506925"/>
            <a:ext cx="4434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prima colonna diventa left = [3, 4, 2, 1, 3, 3]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seconda colonna diventa right = [4, 3, 5, 3, 9, 3]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0472" y="218883"/>
            <a:ext cx="1424500" cy="90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5"/>
          <p:cNvSpPr txBox="1"/>
          <p:nvPr/>
        </p:nvSpPr>
        <p:spPr>
          <a:xfrm>
            <a:off x="2344965" y="552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378" name="Google Shape;37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175" y="1354183"/>
            <a:ext cx="8403741" cy="37107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Francesco Spalluzzi</dc:creator>
</cp:coreProperties>
</file>